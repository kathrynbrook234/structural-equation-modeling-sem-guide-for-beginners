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1" r:id="rId24"/>
    <p:sldId id="282" r:id="rId25"/>
  </p:sldIdLst>
  <p:sldSz cx="9144000" cy="5143500" type="screen16x9"/>
  <p:notesSz cx="6858000" cy="9144000"/>
  <p:embeddedFontLst>
    <p:embeddedFont>
      <p:font typeface="Century Gothic" panose="020B0502020202020204" pitchFamily="34" charset="0"/>
      <p:regular r:id="rId27"/>
      <p:bold r:id="rId28"/>
      <p:italic r:id="rId29"/>
      <p:boldItalic r:id="rId30"/>
    </p:embeddedFont>
    <p:embeddedFont>
      <p:font typeface="Helvetica Neue" panose="02000503000000020004"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1641"/>
  </p:normalViewPr>
  <p:slideViewPr>
    <p:cSldViewPr snapToGrid="0">
      <p:cViewPr varScale="1">
        <p:scale>
          <a:sx n="97" d="100"/>
          <a:sy n="97" d="100"/>
        </p:scale>
        <p:origin x="1888"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dd3aeb131b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dd3aeb131b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dd3aeb131b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dd3aeb131b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Rather than being one particular test the way that a t-test or an ANOVA functions, structural equation modeling is a family or umbrella of various statistical procedures, like confirmatory factor analysis or RI-CLPM</a:t>
            </a:r>
          </a:p>
          <a:p>
            <a:pPr marL="457200" lvl="0" indent="-298450" algn="l" rtl="0">
              <a:spcBef>
                <a:spcPts val="0"/>
              </a:spcBef>
              <a:spcAft>
                <a:spcPts val="0"/>
              </a:spcAft>
              <a:buSzPts val="1100"/>
              <a:buChar char="●"/>
            </a:pPr>
            <a:r>
              <a:rPr lang="en" dirty="0"/>
              <a:t>Used for analyzing super complex multivariate relationships and can be considered a causal inference method (talk about how complicated it gets </a:t>
            </a:r>
            <a:r>
              <a:rPr lang="en" dirty="0" err="1"/>
              <a:t>haha</a:t>
            </a:r>
            <a:r>
              <a:rPr lang="en" dirty="0"/>
              <a:t>)</a:t>
            </a:r>
            <a:endParaRPr dirty="0"/>
          </a:p>
          <a:p>
            <a:pPr marL="457200" lvl="0" indent="-298450" algn="l" rtl="0">
              <a:spcBef>
                <a:spcPts val="0"/>
              </a:spcBef>
              <a:spcAft>
                <a:spcPts val="0"/>
              </a:spcAft>
              <a:buSzPts val="1100"/>
              <a:buChar char="●"/>
            </a:pPr>
            <a:r>
              <a:rPr lang="en" dirty="0"/>
              <a:t>We’ll get into this in the theory section, but SEM is particularly useful for when you have theoretical variables that can’t be tested in the same way a quantitative variable can (test scores vs. customer satisfaction)</a:t>
            </a:r>
            <a:endParaRPr dirty="0"/>
          </a:p>
          <a:p>
            <a:pPr marL="457200" lvl="0" indent="-298450" algn="l" rtl="0">
              <a:spcBef>
                <a:spcPts val="0"/>
              </a:spcBef>
              <a:spcAft>
                <a:spcPts val="0"/>
              </a:spcAft>
              <a:buSzPts val="1100"/>
              <a:buChar char="●"/>
            </a:pPr>
            <a:r>
              <a:rPr lang="en" dirty="0"/>
              <a:t>One common misconception about SEM is that it “worked” if it says it fits your data, but that part actually does not matter, as it should fit your data perfectly regardless. The way you know that SEM worked is if it actually assesses the theoretical issue you care about regardless of whether the model fits or not. </a:t>
            </a:r>
            <a:endParaRPr dirty="0"/>
          </a:p>
          <a:p>
            <a:pPr marL="457200" lvl="0" indent="-298450" algn="l" rtl="0">
              <a:spcBef>
                <a:spcPts val="0"/>
              </a:spcBef>
              <a:spcAft>
                <a:spcPts val="0"/>
              </a:spcAft>
              <a:buSzPts val="1100"/>
              <a:buChar char="●"/>
            </a:pPr>
            <a:r>
              <a:rPr lang="en" dirty="0"/>
              <a:t>Before we keep going, I wanted to see if anyone has used SEM before by a show of hands.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dd3aeb131b_0_1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dd3aeb131b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 We can start to see what some of the applications are of SEM when we look at its origins, which are actually in the psychology field starting with Spearman</a:t>
            </a:r>
            <a:endParaRPr dirty="0"/>
          </a:p>
          <a:p>
            <a:pPr marL="457200" lvl="0" indent="-298450" algn="l" rtl="0">
              <a:spcBef>
                <a:spcPts val="0"/>
              </a:spcBef>
              <a:spcAft>
                <a:spcPts val="0"/>
              </a:spcAft>
              <a:buSzPts val="1100"/>
              <a:buChar char="●"/>
            </a:pPr>
            <a:r>
              <a:rPr lang="en" dirty="0"/>
              <a:t>Spearman wanted to examine general intelligence and see if it was underlying test performance, and to do so he used factor analysis to determine if various measures of general intelligence were actually assessing intelligence like he wanted</a:t>
            </a:r>
            <a:endParaRPr dirty="0"/>
          </a:p>
          <a:p>
            <a:pPr marL="457200" lvl="0" indent="-298450" algn="l" rtl="0">
              <a:spcBef>
                <a:spcPts val="0"/>
              </a:spcBef>
              <a:spcAft>
                <a:spcPts val="0"/>
              </a:spcAft>
              <a:buSzPts val="1100"/>
              <a:buChar char="●"/>
            </a:pPr>
            <a:r>
              <a:rPr lang="en" dirty="0"/>
              <a:t>Wright was a little different and came from a biological background looking at rabbit bones and pigs, but was the first to suggest that path analysis could potentially include “hypothetical factors.” For him, that came in the form of hog breeding as a “latent variable,” which is a surprise tool that’ll help us later.</a:t>
            </a:r>
            <a:endParaRPr dirty="0"/>
          </a:p>
          <a:p>
            <a:pPr marL="457200" lvl="0" indent="-298450" algn="l" rtl="0">
              <a:spcBef>
                <a:spcPts val="0"/>
              </a:spcBef>
              <a:spcAft>
                <a:spcPts val="0"/>
              </a:spcAft>
              <a:buSzPts val="1100"/>
              <a:buChar char="●"/>
            </a:pPr>
            <a:r>
              <a:rPr lang="en" dirty="0"/>
              <a:t>SEM is widely used today in pretty much every field, but especially psychology. </a:t>
            </a:r>
            <a:endParaRPr dirty="0"/>
          </a:p>
          <a:p>
            <a:pPr marL="457200" lvl="0" indent="-298450" algn="l" rtl="0">
              <a:spcBef>
                <a:spcPts val="0"/>
              </a:spcBef>
              <a:spcAft>
                <a:spcPts val="0"/>
              </a:spcAft>
              <a:buSzPts val="1100"/>
              <a:buChar char="●"/>
            </a:pPr>
            <a:r>
              <a:rPr lang="en" dirty="0"/>
              <a:t>For example, </a:t>
            </a:r>
            <a:r>
              <a:rPr lang="en" dirty="0" err="1"/>
              <a:t>Beierlen</a:t>
            </a:r>
            <a:r>
              <a:rPr lang="en" dirty="0"/>
              <a:t> et al. in 2016 examined several types of discrimination, like sexism, xenophobia, racism, etc. using SEM, with one of their theoretical variables being “group-focused enmity,” or hatred toward minority groups. Using SEM allowed them to examine how all of these variables relate to one another and test a more abstract variable at complex levels</a:t>
            </a:r>
            <a:endParaRPr dirty="0"/>
          </a:p>
          <a:p>
            <a:pPr marL="457200" lvl="0" indent="-298450" algn="l" rtl="0">
              <a:spcBef>
                <a:spcPts val="0"/>
              </a:spcBef>
              <a:spcAft>
                <a:spcPts val="0"/>
              </a:spcAft>
              <a:buSzPts val="1100"/>
              <a:buChar char="●"/>
            </a:pPr>
            <a:r>
              <a:rPr lang="en" dirty="0"/>
              <a:t>Today, SEM is used as kind of a “catch-all” statistical method. It can assess causal theories, handle missing data, look at assumptions and associations, and so much more all in one model.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d3aeb131b_0_1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dd3aeb131b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We’re going to be using the industrialization and political democracy dataset, which comes from a study done by Bollen in 1989. We’ll be using this dataset moving forward to better understand the theory behind SEM, some of its components, and how to actually run it in R.</a:t>
            </a:r>
            <a:endParaRPr dirty="0"/>
          </a:p>
          <a:p>
            <a:pPr marL="457200" lvl="0" indent="-298450" algn="l" rtl="0">
              <a:spcBef>
                <a:spcPts val="0"/>
              </a:spcBef>
              <a:spcAft>
                <a:spcPts val="0"/>
              </a:spcAft>
              <a:buSzPts val="1100"/>
              <a:buChar char="●"/>
            </a:pPr>
            <a:r>
              <a:rPr lang="en" dirty="0"/>
              <a:t>I’ll make a note that this dataset comes from the </a:t>
            </a:r>
            <a:r>
              <a:rPr lang="en" dirty="0" err="1"/>
              <a:t>lavaan</a:t>
            </a:r>
            <a:r>
              <a:rPr lang="en" dirty="0"/>
              <a:t> package that some other groups have mentioned before, and that’s how you run SEM in R. Another great dataset I considered using was the HolzingerSwineford1939 dataset because it’s more psychology-focused. However, it focused a ton on visual perception which went way over my head, so I consider the Political Democracy dataset to be more friendly, but I have the Holzinger dataset in the accompanying R-Markdown file if anyone wants to use it. </a:t>
            </a:r>
            <a:endParaRPr dirty="0"/>
          </a:p>
          <a:p>
            <a:pPr marL="457200" lvl="0" indent="-298450" algn="l" rtl="0">
              <a:spcBef>
                <a:spcPts val="0"/>
              </a:spcBef>
              <a:spcAft>
                <a:spcPts val="0"/>
              </a:spcAft>
              <a:buSzPts val="1100"/>
              <a:buChar char="●"/>
            </a:pPr>
            <a:r>
              <a:rPr lang="en" dirty="0"/>
              <a:t>The Bollen dataset uses data from 1960 in various countries. It tests two more abstract variables using several quantitative variables.</a:t>
            </a:r>
            <a:endParaRPr dirty="0"/>
          </a:p>
          <a:p>
            <a:pPr marL="457200" lvl="0" indent="-298450" algn="l" rtl="0">
              <a:spcBef>
                <a:spcPts val="0"/>
              </a:spcBef>
              <a:spcAft>
                <a:spcPts val="0"/>
              </a:spcAft>
              <a:buSzPts val="1100"/>
              <a:buChar char="●"/>
            </a:pPr>
            <a:r>
              <a:rPr lang="en" dirty="0"/>
              <a:t>The first variable is industrialization, which is measured using three variables: x1, or the gross national product per capita, x2, or the energy consumption per capita, and x3, or the percentage of labor force in industry</a:t>
            </a:r>
            <a:endParaRPr dirty="0"/>
          </a:p>
          <a:p>
            <a:pPr marL="457200" lvl="0" indent="-298450" algn="l" rtl="0">
              <a:spcBef>
                <a:spcPts val="0"/>
              </a:spcBef>
              <a:spcAft>
                <a:spcPts val="0"/>
              </a:spcAft>
              <a:buSzPts val="1100"/>
              <a:buChar char="●"/>
            </a:pPr>
            <a:r>
              <a:rPr lang="en" dirty="0"/>
              <a:t>The second variable is political democracy, which is measured using four variables: y1, freedom of the press, y2, freedom of political opposition, y3, fairness of elections, and y4, effectiveness of the elected legislature</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dd3aeb131b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dd3aeb131b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For this presentation, we’re going to address two general research questions. I want to make a note that I am heavily basing this off of Rosseel &amp; Vidal’s (2025) analysis of Bollen (1989) and the math behind it, so our research questions should align with the code they provided.</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dd3aeb131b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dd3aeb131b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dd3aeb131b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dd3aeb131b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One of the main components of SEM is its distinction between observed and latent variables. Essentially, observed variables are what you actually measured. In the Political Democracy dataset, it’s variables like gross national product or freedom of the press. Latent variables are the hypothetical variables. In our dataset, that’s industrialization and political democracy. Another good example of a latent variable is intelligence. </a:t>
            </a:r>
            <a:endParaRPr dirty="0"/>
          </a:p>
          <a:p>
            <a:pPr marL="457200" lvl="0" indent="-298450" algn="l" rtl="0">
              <a:spcBef>
                <a:spcPts val="0"/>
              </a:spcBef>
              <a:spcAft>
                <a:spcPts val="0"/>
              </a:spcAft>
              <a:buSzPts val="1100"/>
              <a:buChar char="●"/>
            </a:pPr>
            <a:r>
              <a:rPr lang="en" dirty="0"/>
              <a:t> An indicator is an observed variable that measures a latent variable. For example, in our dataset, energy consumption is an indicator of industrialization because it’s reflecting that latent variable. </a:t>
            </a:r>
            <a:endParaRPr dirty="0"/>
          </a:p>
          <a:p>
            <a:pPr marL="457200" lvl="0" indent="-298450" algn="l" rtl="0">
              <a:spcBef>
                <a:spcPts val="0"/>
              </a:spcBef>
              <a:spcAft>
                <a:spcPts val="0"/>
              </a:spcAft>
              <a:buSzPts val="1100"/>
              <a:buChar char="●"/>
            </a:pPr>
            <a:r>
              <a:rPr lang="en" dirty="0"/>
              <a:t>A factor is basically just a statistical version of a latent variable for when we’re looking at the SEM model</a:t>
            </a:r>
            <a:endParaRPr dirty="0"/>
          </a:p>
          <a:p>
            <a:pPr marL="457200" lvl="0" indent="-298450" algn="l" rtl="0">
              <a:spcBef>
                <a:spcPts val="0"/>
              </a:spcBef>
              <a:spcAft>
                <a:spcPts val="0"/>
              </a:spcAft>
              <a:buSzPts val="1100"/>
              <a:buChar char="●"/>
            </a:pPr>
            <a:r>
              <a:rPr lang="en" dirty="0"/>
              <a:t>There’s also two main structures in an SEM model: a covariance structure and a mean structure.</a:t>
            </a:r>
            <a:endParaRPr dirty="0"/>
          </a:p>
          <a:p>
            <a:pPr marL="457200" lvl="0" indent="-298450" algn="l" rtl="0">
              <a:spcBef>
                <a:spcPts val="0"/>
              </a:spcBef>
              <a:spcAft>
                <a:spcPts val="0"/>
              </a:spcAft>
              <a:buSzPts val="1100"/>
              <a:buChar char="●"/>
            </a:pPr>
            <a:r>
              <a:rPr lang="en" dirty="0"/>
              <a:t>The covariance structure represents the strength of a linear correlation between two variables because it uses a Pearson’s correlation and then multiplies it against the standard deviation of each variable. </a:t>
            </a:r>
            <a:endParaRPr dirty="0"/>
          </a:p>
          <a:p>
            <a:pPr marL="457200" lvl="0" indent="-298450" algn="l" rtl="0">
              <a:spcBef>
                <a:spcPts val="0"/>
              </a:spcBef>
              <a:spcAft>
                <a:spcPts val="0"/>
              </a:spcAft>
              <a:buSzPts val="1100"/>
              <a:buChar char="●"/>
            </a:pPr>
            <a:r>
              <a:rPr lang="en" dirty="0"/>
              <a:t>The mean structure isn’t used as much, but it’s basically the estimation of means on the latent variables. So for example, in contrast to ANOVAs, with an SEM, you can estimate the magnitude of group mean differences</a:t>
            </a:r>
            <a:endParaRPr dirty="0"/>
          </a:p>
          <a:p>
            <a:pPr marL="457200" lvl="0" indent="-298450" algn="l" rtl="0">
              <a:spcBef>
                <a:spcPts val="0"/>
              </a:spcBef>
              <a:spcAft>
                <a:spcPts val="0"/>
              </a:spcAft>
              <a:buSzPts val="1100"/>
              <a:buChar char="●"/>
            </a:pPr>
            <a:r>
              <a:rPr lang="en" dirty="0"/>
              <a:t>One final component to be aware of is the structural model, which is the relationship among the latent constructs themselves</a:t>
            </a:r>
            <a:endParaRPr dirty="0"/>
          </a:p>
          <a:p>
            <a:pPr marL="457200" lvl="0" indent="-298450" algn="l" rtl="0">
              <a:spcBef>
                <a:spcPts val="0"/>
              </a:spcBef>
              <a:spcAft>
                <a:spcPts val="0"/>
              </a:spcAft>
              <a:buSzPts val="1100"/>
              <a:buChar char="●"/>
            </a:pPr>
            <a:r>
              <a:rPr lang="en" dirty="0"/>
              <a:t>There’s a million other components and definitions with SEM that are outlined by several books, including the one I keep referencing by Kline, but this is a good foundation for us to move forward</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dd3aeb131b_1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dd3aeb131b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Another important thing to know about SEM is how the modeling and graphing works. Some of these graphs get extremely complicated, so I wanted to provide a simpler example that breaks down the parts of a model and how it can look.</a:t>
            </a:r>
            <a:endParaRPr dirty="0"/>
          </a:p>
          <a:p>
            <a:pPr marL="457200" lvl="0" indent="-298450" algn="l" rtl="0">
              <a:spcBef>
                <a:spcPts val="0"/>
              </a:spcBef>
              <a:spcAft>
                <a:spcPts val="0"/>
              </a:spcAft>
              <a:buSzPts val="1100"/>
              <a:buChar char="●"/>
            </a:pPr>
            <a:r>
              <a:rPr lang="en" dirty="0"/>
              <a:t>I got this diagram from Castro-</a:t>
            </a:r>
            <a:r>
              <a:rPr lang="en" dirty="0" err="1"/>
              <a:t>Schilo</a:t>
            </a:r>
            <a:r>
              <a:rPr lang="en" dirty="0"/>
              <a:t>, and it is of course linked in the references if anyone would like to look. </a:t>
            </a:r>
            <a:endParaRPr dirty="0"/>
          </a:p>
          <a:p>
            <a:pPr marL="457200" lvl="0" indent="-298450" algn="l" rtl="0">
              <a:spcBef>
                <a:spcPts val="0"/>
              </a:spcBef>
              <a:spcAft>
                <a:spcPts val="0"/>
              </a:spcAft>
              <a:buSzPts val="1100"/>
              <a:buChar char="●"/>
            </a:pPr>
            <a:r>
              <a:rPr lang="en" dirty="0"/>
              <a:t>The manifest variable is just the observable variable, and is represented as a rectangle. The latent variable is always a circle, and you can see how the latent variable is made up of the observable variables o the right.</a:t>
            </a:r>
            <a:endParaRPr dirty="0"/>
          </a:p>
          <a:p>
            <a:pPr marL="457200" lvl="0" indent="-298450" algn="l" rtl="0">
              <a:spcBef>
                <a:spcPts val="0"/>
              </a:spcBef>
              <a:spcAft>
                <a:spcPts val="0"/>
              </a:spcAft>
              <a:buSzPts val="1100"/>
              <a:buChar char="●"/>
            </a:pPr>
            <a:r>
              <a:rPr lang="en" dirty="0"/>
              <a:t>Triangles are used to represent constants, which help enable the estimation of means and intercepts. If there’s not restrictions on variable means, this is usually omitted.</a:t>
            </a:r>
            <a:endParaRPr dirty="0"/>
          </a:p>
          <a:p>
            <a:pPr marL="457200" lvl="0" indent="-298450" algn="l" rtl="0">
              <a:spcBef>
                <a:spcPts val="0"/>
              </a:spcBef>
              <a:spcAft>
                <a:spcPts val="0"/>
              </a:spcAft>
              <a:buSzPts val="1100"/>
              <a:buChar char="●"/>
            </a:pPr>
            <a:r>
              <a:rPr lang="en" dirty="0"/>
              <a:t>One-headed arrows are regressions or loading, and loading is just a regression of an observed variable on the latent variable.</a:t>
            </a:r>
            <a:endParaRPr dirty="0"/>
          </a:p>
          <a:p>
            <a:pPr marL="457200" lvl="0" indent="-298450" algn="l" rtl="0">
              <a:spcBef>
                <a:spcPts val="0"/>
              </a:spcBef>
              <a:spcAft>
                <a:spcPts val="0"/>
              </a:spcAft>
              <a:buSzPts val="1100"/>
              <a:buChar char="●"/>
            </a:pPr>
            <a:r>
              <a:rPr lang="en" dirty="0"/>
              <a:t>Double-headed arrows represents variances in a single variable, which can be seen on the right. If there was a double-headed arrow between X and Y though, for example, that would indicate covariance.</a:t>
            </a:r>
            <a:endParaRPr dirty="0"/>
          </a:p>
          <a:p>
            <a:pPr marL="457200" lvl="0" indent="-298450" algn="l" rtl="0">
              <a:spcBef>
                <a:spcPts val="0"/>
              </a:spcBef>
              <a:spcAft>
                <a:spcPts val="0"/>
              </a:spcAft>
              <a:buSzPts val="1100"/>
              <a:buChar char="●"/>
            </a:pPr>
            <a:r>
              <a:rPr lang="en" dirty="0"/>
              <a:t>I don’t want to dwell too much here because this will make more sense when we look at our own data, but it is important to understand what parts make up SEM graphs because they can get insanely complicated.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dd3aeb131b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dd3aeb131b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There’s several assumptions for SEM. However, I will be very honest with you all, it was extremely difficult to find straight answers on what things are assumptions and what matters. Ultimately, it looks like the rule of thumb is to do whatever is consistent with your field, but here are a few assumption examples that I could find. We’ll go over how to assess them in R as well. </a:t>
            </a:r>
            <a:endParaRPr dirty="0"/>
          </a:p>
          <a:p>
            <a:pPr marL="457200" lvl="0" indent="-298450" algn="l" rtl="0">
              <a:spcBef>
                <a:spcPts val="0"/>
              </a:spcBef>
              <a:spcAft>
                <a:spcPts val="0"/>
              </a:spcAft>
              <a:buSzPts val="1100"/>
              <a:buChar char="●"/>
            </a:pPr>
            <a:r>
              <a:rPr lang="en" dirty="0"/>
              <a:t> First is multivariate normality. Not only do individual variables need to be normally distributed, but their combinations should as well. I’ve seen some sources say you can use residuals and others say to do specific R tests, so stick with whatever your field typically does. </a:t>
            </a:r>
            <a:endParaRPr dirty="0"/>
          </a:p>
          <a:p>
            <a:pPr marL="457200" lvl="0" indent="-298450" algn="l" rtl="0">
              <a:spcBef>
                <a:spcPts val="0"/>
              </a:spcBef>
              <a:spcAft>
                <a:spcPts val="0"/>
              </a:spcAft>
              <a:buSzPts val="1100"/>
              <a:buChar char="●"/>
            </a:pPr>
            <a:r>
              <a:rPr lang="en" dirty="0"/>
              <a:t>Similarly to other tests we’ve learned this semester, the relationships between variables should be linear</a:t>
            </a:r>
            <a:endParaRPr dirty="0"/>
          </a:p>
          <a:p>
            <a:pPr marL="457200" lvl="0" indent="-298450" algn="l" rtl="0">
              <a:spcBef>
                <a:spcPts val="0"/>
              </a:spcBef>
              <a:spcAft>
                <a:spcPts val="0"/>
              </a:spcAft>
              <a:buSzPts val="1100"/>
              <a:buChar char="●"/>
            </a:pPr>
            <a:r>
              <a:rPr lang="en" dirty="0"/>
              <a:t>You also want to avoid perfect multicollinearity, as that could indicate issues with your data. Some multicollinearity appears to be fine, especially since two observed variables might be indicators for the same latent variable. Estimation problems can arise if multicollinearity is particularly high</a:t>
            </a:r>
            <a:endParaRPr dirty="0"/>
          </a:p>
          <a:p>
            <a:pPr marL="457200" lvl="0" indent="-298450" algn="l" rtl="0">
              <a:spcBef>
                <a:spcPts val="0"/>
              </a:spcBef>
              <a:spcAft>
                <a:spcPts val="0"/>
              </a:spcAft>
              <a:buSzPts val="1100"/>
              <a:buChar char="●"/>
            </a:pPr>
            <a:r>
              <a:rPr lang="en" dirty="0"/>
              <a:t>While SEM is equipped to deal with missing data, you’ll want to make sure you don’t have systemic missing data, like everyone from one zip code is missing. </a:t>
            </a:r>
            <a:endParaRPr dirty="0"/>
          </a:p>
          <a:p>
            <a:pPr marL="457200" lvl="0" indent="-298450" algn="l" rtl="0">
              <a:spcBef>
                <a:spcPts val="0"/>
              </a:spcBef>
              <a:spcAft>
                <a:spcPts val="0"/>
              </a:spcAft>
              <a:buSzPts val="1100"/>
              <a:buChar char="●"/>
            </a:pPr>
            <a:r>
              <a:rPr lang="en" dirty="0"/>
              <a:t>This is not an official assumption, but sample size is vital to running SEM. Kline in his book discusses the </a:t>
            </a:r>
            <a:r>
              <a:rPr lang="en" dirty="0" err="1"/>
              <a:t>N:q</a:t>
            </a:r>
            <a:r>
              <a:rPr lang="en" dirty="0"/>
              <a:t> rule, which is the ratio between your sample size and how many model parameters you have that will require statistical estimates. 20:1 is recommended. For instance, if you are going to have 10 estimates, then you’ll do 20 times 10, which is 200 for the proper sample size.</a:t>
            </a:r>
            <a:endParaRPr dirty="0"/>
          </a:p>
          <a:p>
            <a:pPr marL="457200" lvl="0" indent="-298450" algn="l" rtl="0">
              <a:spcBef>
                <a:spcPts val="0"/>
              </a:spcBef>
              <a:spcAft>
                <a:spcPts val="0"/>
              </a:spcAft>
              <a:buSzPts val="1100"/>
              <a:buChar char="●"/>
            </a:pPr>
            <a:r>
              <a:rPr lang="en" dirty="0"/>
              <a:t>You’ll want to make sure you’ve correctly specified your model by including ALL of the relevant variables and not just purposefully omitting some</a:t>
            </a:r>
            <a:endParaRPr dirty="0"/>
          </a:p>
          <a:p>
            <a:pPr marL="457200" lvl="0" indent="-298450" algn="l" rtl="0">
              <a:spcBef>
                <a:spcPts val="0"/>
              </a:spcBef>
              <a:spcAft>
                <a:spcPts val="0"/>
              </a:spcAft>
              <a:buSzPts val="1100"/>
              <a:buChar char="●"/>
            </a:pPr>
            <a:r>
              <a:rPr lang="en" dirty="0"/>
              <a:t>As with other tests, you want to make sure there’s independence of observations. However, there are certain SEM models that are equipped for mixed models or within-subjects data, but this is the general rule of thumb.</a:t>
            </a:r>
            <a:endParaRPr dirty="0"/>
          </a:p>
          <a:p>
            <a:pPr marL="457200" lvl="0" indent="-298450" algn="l" rtl="0">
              <a:spcBef>
                <a:spcPts val="0"/>
              </a:spcBef>
              <a:spcAft>
                <a:spcPts val="0"/>
              </a:spcAft>
              <a:buSzPts val="1100"/>
              <a:buChar char="●"/>
            </a:pPr>
            <a:r>
              <a:rPr lang="en" dirty="0"/>
              <a:t>And finally, you want to check that you do not have any extreme outliers. </a:t>
            </a:r>
            <a:endParaRPr dirty="0"/>
          </a:p>
          <a:p>
            <a:pPr marL="457200" lvl="0" indent="-298450" algn="l" rtl="0">
              <a:spcBef>
                <a:spcPts val="0"/>
              </a:spcBef>
              <a:spcAft>
                <a:spcPts val="0"/>
              </a:spcAft>
              <a:buSzPts val="1100"/>
              <a:buChar char="●"/>
            </a:pPr>
            <a:r>
              <a:rPr lang="en" dirty="0"/>
              <a:t>I want to reiterate that again, it was extremely hard to find assumptions for SEM, and I think it is because there are so many tests that fall under the SEM umbrella that there’s always an exception or a different assumption. I once again recommend leaning on your field’s typical assumptions or looking at the specific type of analyses you’d like to run.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d3aeb131b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dd3aeb131b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Now that we’ve got a theoretical foundation, let’s talk about some of the strengths and weaknesses. In SEM, the strengths are extremely strong and the weaknesses are extreme weak spots, so keep that in mind.</a:t>
            </a:r>
            <a:endParaRPr dirty="0"/>
          </a:p>
          <a:p>
            <a:pPr marL="457200" lvl="0" indent="-298450" algn="l" rtl="0">
              <a:spcBef>
                <a:spcPts val="0"/>
              </a:spcBef>
              <a:spcAft>
                <a:spcPts val="0"/>
              </a:spcAft>
              <a:buSzPts val="1100"/>
              <a:buChar char="●"/>
            </a:pPr>
            <a:r>
              <a:rPr lang="en" dirty="0"/>
              <a:t>One of the main strengths of SEM is that it can distinguish observed and latent variables. For example, when conducting a study, if you think “x1-x3” represents industrialization and “y1-y4” represents political democracy, SEM can actually analyze that and distinguish between them. ANOVAs and linear regressions absolutely cannot. </a:t>
            </a:r>
            <a:endParaRPr dirty="0"/>
          </a:p>
          <a:p>
            <a:pPr marL="457200" lvl="0" indent="-298450" algn="l" rtl="0">
              <a:spcBef>
                <a:spcPts val="0"/>
              </a:spcBef>
              <a:spcAft>
                <a:spcPts val="0"/>
              </a:spcAft>
              <a:buSzPts val="1100"/>
              <a:buChar char="●"/>
            </a:pPr>
            <a:r>
              <a:rPr lang="en" dirty="0"/>
              <a:t>Because SEM is so complicated, it can address abstract questions and constructs in ways that other tests cannot, which makes it extremely popular</a:t>
            </a:r>
            <a:endParaRPr dirty="0"/>
          </a:p>
          <a:p>
            <a:pPr marL="457200" lvl="0" indent="-298450" algn="l" rtl="0">
              <a:spcBef>
                <a:spcPts val="0"/>
              </a:spcBef>
              <a:spcAft>
                <a:spcPts val="0"/>
              </a:spcAft>
              <a:buSzPts val="1100"/>
              <a:buChar char="●"/>
            </a:pPr>
            <a:r>
              <a:rPr lang="en" dirty="0"/>
              <a:t>You can do both exploratory and confirmatory analyses with SEM, which can be great for data analysis</a:t>
            </a:r>
            <a:endParaRPr dirty="0"/>
          </a:p>
          <a:p>
            <a:pPr marL="457200" lvl="0" indent="-298450" algn="l" rtl="0">
              <a:spcBef>
                <a:spcPts val="0"/>
              </a:spcBef>
              <a:spcAft>
                <a:spcPts val="0"/>
              </a:spcAft>
              <a:buSzPts val="1100"/>
              <a:buChar char="●"/>
            </a:pPr>
            <a:r>
              <a:rPr lang="en" dirty="0"/>
              <a:t>It’s also an extremely powerful analysis, especially because it’s typically used a priori</a:t>
            </a:r>
            <a:endParaRPr dirty="0"/>
          </a:p>
          <a:p>
            <a:pPr marL="457200" lvl="0" indent="-298450" algn="l" rtl="0">
              <a:spcBef>
                <a:spcPts val="0"/>
              </a:spcBef>
              <a:spcAft>
                <a:spcPts val="0"/>
              </a:spcAft>
              <a:buSzPts val="1100"/>
              <a:buChar char="●"/>
            </a:pPr>
            <a:r>
              <a:rPr lang="en" dirty="0"/>
              <a:t>All of these strengths demonstrate its main strength, which is the fact that it’s a comprehensive and complex analysis that can assess a ton of different things in one model</a:t>
            </a:r>
            <a:endParaRPr dirty="0"/>
          </a:p>
          <a:p>
            <a:pPr marL="457200" lvl="0" indent="-298450" algn="l" rtl="0">
              <a:spcBef>
                <a:spcPts val="0"/>
              </a:spcBef>
              <a:spcAft>
                <a:spcPts val="0"/>
              </a:spcAft>
              <a:buSzPts val="1100"/>
              <a:buChar char="●"/>
            </a:pPr>
            <a:r>
              <a:rPr lang="en" dirty="0"/>
              <a:t> But for all of these strengths, there are quite a few weaknesses, with its main one being it is ridiculously complicated. There’s so much room for potential error for those unfamiliar with SEM, and I am sure that I have probably messed up a few things here and there despite my research because of how confusing it can be</a:t>
            </a:r>
            <a:endParaRPr dirty="0"/>
          </a:p>
          <a:p>
            <a:pPr marL="457200" lvl="0" indent="-298450" algn="l" rtl="0">
              <a:spcBef>
                <a:spcPts val="0"/>
              </a:spcBef>
              <a:spcAft>
                <a:spcPts val="0"/>
              </a:spcAft>
              <a:buSzPts val="1100"/>
              <a:buChar char="●"/>
            </a:pPr>
            <a:r>
              <a:rPr lang="en" dirty="0"/>
              <a:t>It also requires a large sample size. We talked about the </a:t>
            </a:r>
            <a:r>
              <a:rPr lang="en" dirty="0" err="1"/>
              <a:t>N:q</a:t>
            </a:r>
            <a:r>
              <a:rPr lang="en" dirty="0"/>
              <a:t> rule earlier, but there’s also a rule of thumb of having a minimum of 100 participants, which can be difficult in some lab settings to achieve</a:t>
            </a:r>
            <a:endParaRPr dirty="0"/>
          </a:p>
          <a:p>
            <a:pPr marL="457200" lvl="0" indent="-298450" algn="l" rtl="0">
              <a:spcBef>
                <a:spcPts val="0"/>
              </a:spcBef>
              <a:spcAft>
                <a:spcPts val="0"/>
              </a:spcAft>
              <a:buSzPts val="1100"/>
              <a:buChar char="●"/>
            </a:pPr>
            <a:r>
              <a:rPr lang="en" dirty="0"/>
              <a:t>It’s extremely easy to misinterpret because it can be so complicated</a:t>
            </a:r>
            <a:endParaRPr dirty="0"/>
          </a:p>
          <a:p>
            <a:pPr marL="457200" lvl="0" indent="-298450" algn="l" rtl="0">
              <a:spcBef>
                <a:spcPts val="0"/>
              </a:spcBef>
              <a:spcAft>
                <a:spcPts val="0"/>
              </a:spcAft>
              <a:buSzPts val="1100"/>
              <a:buChar char="●"/>
            </a:pPr>
            <a:r>
              <a:rPr lang="en" dirty="0"/>
              <a:t>Tomarken &amp; Waller discuss in detail how some of the goodness-of-fit tests can be misleading when people report them, which is why Kline in 2023 mentions it’s not as relevant (and is mildly confusing). It’s very easy to move from one goodness-of-fit test to another until you can say that you have a model that has a good fit, even if it doesn’t</a:t>
            </a:r>
            <a:endParaRPr dirty="0"/>
          </a:p>
          <a:p>
            <a:pPr marL="457200" lvl="0" indent="-298450" algn="l" rtl="0">
              <a:spcBef>
                <a:spcPts val="0"/>
              </a:spcBef>
              <a:spcAft>
                <a:spcPts val="0"/>
              </a:spcAft>
              <a:buSzPts val="1100"/>
              <a:buChar char="●"/>
            </a:pPr>
            <a:r>
              <a:rPr lang="en" dirty="0"/>
              <a:t>It’s inappropriate for nonlinear data since one of the assumptions is that the data is linear</a:t>
            </a:r>
            <a:endParaRPr dirty="0"/>
          </a:p>
          <a:p>
            <a:pPr marL="457200" lvl="0" indent="-298450" algn="l" rtl="0">
              <a:spcBef>
                <a:spcPts val="0"/>
              </a:spcBef>
              <a:spcAft>
                <a:spcPts val="0"/>
              </a:spcAft>
              <a:buSzPts val="1100"/>
              <a:buChar char="●"/>
            </a:pPr>
            <a:r>
              <a:rPr lang="en" dirty="0"/>
              <a:t>And finally, SEM is constantly in development! Researchers continue to come up with new analyses under the SEM umbrella that can make it feel impossible to keep up with, and I was definitely feeling that while creating this presentation. </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dd3aeb131b_0_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dd3aeb131b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Despite how complicated it is, SEM is an extremely useful tool for data analysis. Whenever you have variables that are abstract or theoretical, SEM is the perfect model to use. For example, in our dataset, SEM is appropriate because we’re trying to analyze industrialization and political democracy, which we can’t literally measure without observable variables like energy consumption or freedom of press.</a:t>
            </a:r>
            <a:endParaRPr dirty="0"/>
          </a:p>
          <a:p>
            <a:pPr marL="457200" lvl="0" indent="-298450" algn="l" rtl="0">
              <a:spcBef>
                <a:spcPts val="0"/>
              </a:spcBef>
              <a:spcAft>
                <a:spcPts val="0"/>
              </a:spcAft>
              <a:buSzPts val="1100"/>
              <a:buChar char="●"/>
            </a:pPr>
            <a:r>
              <a:rPr lang="en" dirty="0"/>
              <a:t>It’s also great for handling things like measurement error and missing data because it uses sophisticated analyses to do so</a:t>
            </a:r>
            <a:endParaRPr dirty="0"/>
          </a:p>
          <a:p>
            <a:pPr marL="457200" lvl="0" indent="-298450" algn="l" rtl="0">
              <a:spcBef>
                <a:spcPts val="0"/>
              </a:spcBef>
              <a:spcAft>
                <a:spcPts val="0"/>
              </a:spcAft>
              <a:buSzPts val="1100"/>
              <a:buChar char="●"/>
            </a:pPr>
            <a:r>
              <a:rPr lang="en" dirty="0"/>
              <a:t>Finally, it’s great for when you have variables that are both predictors and outcomes. In this class, we’ve essentially only talked about tests where there’s a clear DV and a clear IV, but not when they’re interchangeable. SEM is a fantastic way to assess those relationships</a:t>
            </a:r>
            <a:endParaRPr dirty="0"/>
          </a:p>
          <a:p>
            <a:pPr marL="457200" lvl="0" indent="-298450" algn="l" rtl="0">
              <a:spcBef>
                <a:spcPts val="0"/>
              </a:spcBef>
              <a:spcAft>
                <a:spcPts val="0"/>
              </a:spcAft>
              <a:buSzPts val="1100"/>
              <a:buChar char="●"/>
            </a:pPr>
            <a:r>
              <a:rPr lang="en" dirty="0"/>
              <a:t>From my research, it doesn’t look like there’s a ton of alternatives to SEM, just that there’s versions of it that can suit whatever need you have</a:t>
            </a:r>
            <a:endParaRPr dirty="0"/>
          </a:p>
          <a:p>
            <a:pPr marL="457200" lvl="0" indent="-298450" algn="l" rtl="0">
              <a:spcBef>
                <a:spcPts val="0"/>
              </a:spcBef>
              <a:spcAft>
                <a:spcPts val="0"/>
              </a:spcAft>
              <a:buSzPts val="1100"/>
              <a:buChar char="●"/>
            </a:pPr>
            <a:r>
              <a:rPr lang="en" dirty="0"/>
              <a:t>One alternative I found is factor score path analysis, which is useful for small samples</a:t>
            </a:r>
            <a:endParaRPr dirty="0"/>
          </a:p>
          <a:p>
            <a:pPr marL="457200" lvl="0" indent="-298450" algn="l" rtl="0">
              <a:spcBef>
                <a:spcPts val="0"/>
              </a:spcBef>
              <a:spcAft>
                <a:spcPts val="0"/>
              </a:spcAft>
              <a:buSzPts val="1100"/>
              <a:buChar char="●"/>
            </a:pPr>
            <a:r>
              <a:rPr lang="en" dirty="0"/>
              <a:t>I also found information about multilevel modeling being an alternative if you really just feel like torturing yourself for a few hours. There’s versions of SEM that involve multilevel modeling, but I’m listing it here anyways</a:t>
            </a:r>
            <a:endParaRPr dirty="0"/>
          </a:p>
          <a:p>
            <a:pPr marL="457200" lvl="0" indent="-298450" algn="l" rtl="0">
              <a:spcBef>
                <a:spcPts val="0"/>
              </a:spcBef>
              <a:spcAft>
                <a:spcPts val="0"/>
              </a:spcAft>
              <a:buSzPts val="1100"/>
              <a:buChar char="●"/>
            </a:pPr>
            <a:r>
              <a:rPr lang="en" dirty="0"/>
              <a:t>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dd3aeb131b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dd3aeb131b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 to R Markdown file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d3aeb131b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dd3aeb131b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that we’ve seen how to run SEM in R, let’s analyze what our outputs actually mean, along with the graph</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d3aeb131b_1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dd3aeb131b_1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dirty="0">
                <a:solidFill>
                  <a:schemeClr val="dk1"/>
                </a:solidFill>
              </a:rPr>
              <a:t>First, let’s take a look at our model fit. On the left, you’ll see the normal R and </a:t>
            </a:r>
            <a:r>
              <a:rPr lang="en" dirty="0" err="1">
                <a:solidFill>
                  <a:schemeClr val="dk1"/>
                </a:solidFill>
              </a:rPr>
              <a:t>lavaan</a:t>
            </a:r>
            <a:r>
              <a:rPr lang="en" dirty="0">
                <a:solidFill>
                  <a:schemeClr val="dk1"/>
                </a:solidFill>
              </a:rPr>
              <a:t> output. This output can be really useful for when you need specific values, but I recommend using the </a:t>
            </a:r>
            <a:r>
              <a:rPr lang="en" dirty="0" err="1">
                <a:solidFill>
                  <a:schemeClr val="dk1"/>
                </a:solidFill>
              </a:rPr>
              <a:t>sem_tables</a:t>
            </a:r>
            <a:r>
              <a:rPr lang="en" dirty="0">
                <a:solidFill>
                  <a:schemeClr val="dk1"/>
                </a:solidFill>
              </a:rPr>
              <a:t> function from the </a:t>
            </a:r>
            <a:r>
              <a:rPr lang="en" dirty="0" err="1">
                <a:solidFill>
                  <a:schemeClr val="dk1"/>
                </a:solidFill>
              </a:rPr>
              <a:t>semoutput</a:t>
            </a:r>
            <a:r>
              <a:rPr lang="en" dirty="0">
                <a:solidFill>
                  <a:schemeClr val="dk1"/>
                </a:solidFill>
              </a:rPr>
              <a:t> because it is much easier to look and and interpret.</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The first output we’ll look at is our model test user model. The main thing we’re going to look at here is the result of a chi-square analysis. In SEM, the null hypothesis of the chi-square test says that there is NO difference in the covariances predicted by our model and the actual data. Therefore, we want a nonsignificant value similar to normality and homogeneity of variance tests we’ve done in the past. Our chi-square is insignificant, which indicates that we have a good model fit.</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The next thing we’ll take a look at is the User Model versus Baseline Model. In the next slide, we’ll talk about even more goodness-of-fit tests, but the comparative fit index (CFI) and robust tucker-</a:t>
            </a:r>
            <a:r>
              <a:rPr lang="en" dirty="0" err="1">
                <a:solidFill>
                  <a:schemeClr val="dk1"/>
                </a:solidFill>
              </a:rPr>
              <a:t>lewis</a:t>
            </a:r>
            <a:r>
              <a:rPr lang="en" dirty="0">
                <a:solidFill>
                  <a:schemeClr val="dk1"/>
                </a:solidFill>
              </a:rPr>
              <a:t> index (TLI) are the ones in this area. The one that seems to be the most commonly used is the CFI, so I’ll focus on that one, but just know that the TLI is very similar.</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CFI ranges from 0-1.0. A 1.0 means there is no departure of fit in our model from the null model. A CFI of greater than .9 or .95 is typically acceptable. Our CFI is greater than both of those and is pretty close to 1.0, so our model closely fits the data.</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dd3aeb131b_1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dd3aeb131b_1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dirty="0">
                <a:solidFill>
                  <a:schemeClr val="dk1"/>
                </a:solidFill>
              </a:rPr>
              <a:t>Now we’ll get into some other fit indices. For demonstration purposes when we get to the interpretation in APA section, I won’t be including all these, but it’s best practice to include at least a couple fit </a:t>
            </a:r>
            <a:r>
              <a:rPr lang="en" dirty="0" err="1">
                <a:solidFill>
                  <a:schemeClr val="dk1"/>
                </a:solidFill>
              </a:rPr>
              <a:t>indice</a:t>
            </a:r>
            <a:r>
              <a:rPr lang="en" dirty="0">
                <a:solidFill>
                  <a:schemeClr val="dk1"/>
                </a:solidFill>
              </a:rPr>
              <a:t> results when reporting your SEM model.</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Let’s look at the AIC and BIC. Where do we recognize the AIC from? [wait for answer] It’s a model criterion for when we’re doing like stepwise or backward regression stuff to determine our variables! If you recall, there’s not really a cutoff for AIC, it’s just kind of a matter of did it decrease. We can’t necessarily see that here, but it’s good to know that’s what it means. BIC is just a different version, for our purposes we’d probably go with AIC.</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Next is the Root Mean Square Error of Approximation (RMSEA). The RMSEA is a bit of an ugly duckling in that it’s a BADNESS-of-fit test, meaning the closer the 0 it is, the better. Our RMSEA is .028 with a tiny confidence interval, which indicates that our model is NOT a bad fit. When reporting the RMSEA, you would want to also report the confidence interval. </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Finally, we have the SRMR. The SRMR measures the overall difference between the observed and predicted correlations (so basically their residuals). An SRMR of &gt; .10 may indicate poor fit. Ours is only .056, so we’re good.</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Overall, these fit indices all agree that our model fits the data! Hooray!</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dd3aeb131b_1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dd3aeb131b_1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Before we get into the meat of the interpretation with the actual regression values, I want to remind everyone of what we’re looking for and visually demonstrate the results with a graph.</a:t>
            </a:r>
            <a:endParaRPr dirty="0"/>
          </a:p>
          <a:p>
            <a:pPr marL="457200" lvl="0" indent="-298450" algn="l" rtl="0">
              <a:spcBef>
                <a:spcPts val="0"/>
              </a:spcBef>
              <a:spcAft>
                <a:spcPts val="0"/>
              </a:spcAft>
              <a:buSzPts val="1100"/>
              <a:buChar char="●"/>
            </a:pPr>
            <a:r>
              <a:rPr lang="en" dirty="0"/>
              <a:t>This graph is very scary, but we’re going to break it down along the way. As a reminder, all of these variables outlined in purple are manifest or observable variables. They’re what we actually measured in the study, so stuff like energy consumption or gross national product per capita. </a:t>
            </a:r>
            <a:endParaRPr dirty="0"/>
          </a:p>
          <a:p>
            <a:pPr marL="457200" lvl="0" indent="-298450" algn="l" rtl="0">
              <a:spcBef>
                <a:spcPts val="0"/>
              </a:spcBef>
              <a:spcAft>
                <a:spcPts val="0"/>
              </a:spcAft>
              <a:buSzPts val="1100"/>
              <a:buChar char="●"/>
            </a:pPr>
            <a:r>
              <a:rPr lang="en" dirty="0"/>
              <a:t>The variables in orange are our latent variables, or the more conceptual, abstract concepts we’re testing. So for example, variables x1, x2, and x3 are basically actual measures that indicate or legit measure industrialization in 1960 since we can’t literally ask about industrialization, so we have to measure it in other ways.</a:t>
            </a:r>
            <a:endParaRPr dirty="0"/>
          </a:p>
          <a:p>
            <a:pPr marL="457200" lvl="0" indent="-298450" algn="l" rtl="0">
              <a:spcBef>
                <a:spcPts val="0"/>
              </a:spcBef>
              <a:spcAft>
                <a:spcPts val="0"/>
              </a:spcAft>
              <a:buSzPts val="1100"/>
              <a:buChar char="●"/>
            </a:pPr>
            <a:r>
              <a:rPr lang="en" dirty="0"/>
              <a:t>These arrows pointing to just the variable or between the variables are the variances. If the two-headed arrow is pointing to just one variable like we see with political democracy in 1960, that’s indicating its variance. If the two-headed error is between two variables, that’s signaling covariance. </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dd3aeb131b_1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dd3aeb131b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Similar concept here. All of these variables are related to democracy in 1960. So y1-y4 are indicators of democracy in 1960.</a:t>
            </a:r>
            <a:endParaRPr dirty="0"/>
          </a:p>
          <a:p>
            <a:pPr marL="457200" lvl="0" indent="-298450" algn="l" rtl="0">
              <a:spcBef>
                <a:spcPts val="0"/>
              </a:spcBef>
              <a:spcAft>
                <a:spcPts val="0"/>
              </a:spcAft>
              <a:buSzPts val="1100"/>
              <a:buChar char="●"/>
            </a:pPr>
            <a:r>
              <a:rPr lang="en" dirty="0"/>
              <a:t>Variables x1-x3 are indicators of industrialization in 1960.</a:t>
            </a:r>
            <a:endParaRPr dirty="0"/>
          </a:p>
          <a:p>
            <a:pPr marL="457200" lvl="0" indent="-298450" algn="l" rtl="0">
              <a:spcBef>
                <a:spcPts val="0"/>
              </a:spcBef>
              <a:spcAft>
                <a:spcPts val="0"/>
              </a:spcAft>
              <a:buSzPts val="1100"/>
              <a:buChar char="●"/>
            </a:pPr>
            <a:r>
              <a:rPr lang="en" dirty="0"/>
              <a:t>And then finally, variables y5-y8 are indicators of democracy in 1965.</a:t>
            </a:r>
            <a:endParaRPr dirty="0"/>
          </a:p>
          <a:p>
            <a:pPr marL="457200" lvl="0" indent="-298450" algn="l" rtl="0">
              <a:spcBef>
                <a:spcPts val="0"/>
              </a:spcBef>
              <a:spcAft>
                <a:spcPts val="0"/>
              </a:spcAft>
              <a:buSzPts val="1100"/>
              <a:buChar char="●"/>
            </a:pPr>
            <a:r>
              <a:rPr lang="en" dirty="0"/>
              <a:t>As you’ll see shortly, we want to not only see the correlations between our three latent variables, but also want to see that our indicators or observable variables are actually measuring/indicating these latent variables.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dd3aeb131b_1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dd3aeb131b_1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What we are seeing here are factor loadings. As a reminder, factor loadings are basically just correlations/regressions of each of the measured variables on the latent variable. By checking the factor loadings, we’re making sure that these observable variables do a good job indicating their respective latent variable.</a:t>
            </a:r>
            <a:endParaRPr dirty="0"/>
          </a:p>
          <a:p>
            <a:pPr marL="457200" lvl="0" indent="-298450" algn="l" rtl="0">
              <a:spcBef>
                <a:spcPts val="0"/>
              </a:spcBef>
              <a:spcAft>
                <a:spcPts val="0"/>
              </a:spcAft>
              <a:buSzPts val="1100"/>
              <a:buChar char="●"/>
            </a:pPr>
            <a:r>
              <a:rPr lang="en" dirty="0"/>
              <a:t>For example, we can see here that the factor loadings of y1-y4 are strong and significant with political democracy in 1960. This means that these variables are good at indicating political democracy 1960. As a reminder, this included things like freedom of speech, press, etc., so this is saying that those things do a good job of indicating a country’s political democracy in 1960.</a:t>
            </a:r>
            <a:endParaRPr dirty="0"/>
          </a:p>
          <a:p>
            <a:pPr marL="457200" lvl="0" indent="-298450" algn="l" rtl="0">
              <a:spcBef>
                <a:spcPts val="0"/>
              </a:spcBef>
              <a:spcAft>
                <a:spcPts val="0"/>
              </a:spcAft>
              <a:buSzPts val="1100"/>
              <a:buChar char="●"/>
            </a:pPr>
            <a:r>
              <a:rPr lang="en" dirty="0"/>
              <a:t>We see the same thing with industrialization in 1960 and political democracy in 1965. The variables all are strong and significant, so they do a good job of indicating our latent variables. </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dd3aeb131b_1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dd3aeb131b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Now that we know our model fits and our observed variables are good indicators of our latent variables, let’s actually look at the regressions between each of these latent variables.</a:t>
            </a:r>
            <a:endParaRPr dirty="0"/>
          </a:p>
          <a:p>
            <a:pPr marL="457200" lvl="0" indent="-298450" algn="l" rtl="0">
              <a:spcBef>
                <a:spcPts val="0"/>
              </a:spcBef>
              <a:spcAft>
                <a:spcPts val="0"/>
              </a:spcAft>
              <a:buSzPts val="1100"/>
              <a:buChar char="●"/>
            </a:pPr>
            <a:r>
              <a:rPr lang="en" dirty="0"/>
              <a:t>Our first research question was does a country’s industrialization in 1960 predict its political democracy in 1960, which we can see here. If we take a look at the R outputs, we can see that yes, industrialization does predict democracy. Our p-values are significant, and this version of the output even gives us our standardized betas that we can report. </a:t>
            </a:r>
            <a:endParaRPr dirty="0"/>
          </a:p>
          <a:p>
            <a:pPr marL="457200" lvl="0" indent="-298450" algn="l" rtl="0">
              <a:spcBef>
                <a:spcPts val="0"/>
              </a:spcBef>
              <a:spcAft>
                <a:spcPts val="0"/>
              </a:spcAft>
              <a:buSzPts val="1100"/>
              <a:buChar char="●"/>
            </a:pPr>
            <a:r>
              <a:rPr lang="en" dirty="0"/>
              <a:t>Our second research question was do political democracy and industrialization in 1960 predict political democracy in 1965? Let’s first look at political democracy in 1960 and political democracy in 1965. Again, we see that yes, political democracy in 1960 does predict democracy in 1965 based on our significant p-value. Same thing with industrialization in 1960 and political democracy in 1965. </a:t>
            </a:r>
            <a:endParaRPr dirty="0"/>
          </a:p>
          <a:p>
            <a:pPr marL="457200" lvl="0" indent="-298450" algn="l" rtl="0">
              <a:spcBef>
                <a:spcPts val="0"/>
              </a:spcBef>
              <a:spcAft>
                <a:spcPts val="0"/>
              </a:spcAft>
              <a:buSzPts val="1100"/>
              <a:buChar char="●"/>
            </a:pPr>
            <a:r>
              <a:rPr lang="en" dirty="0"/>
              <a:t>So all of our regressions added in the model were significant! When reporting, we’ll report the standardized betas, standard errors, and p-values. </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dd3aeb131b_1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dd3aeb131b_1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Let’s take one final look at our model. What we found was all of these observed variables do a good job of indicating their respective latent variables. We also found that the regressions were each significant. These SEM models can be a great way to visualize our findings, but a downside is that in R, it’s very difficult to look at </a:t>
            </a:r>
            <a:r>
              <a:rPr lang="en" i="1" dirty="0"/>
              <a:t>just</a:t>
            </a:r>
            <a:r>
              <a:rPr lang="en" dirty="0"/>
              <a:t> the correlation between democracy in 1960 and industrialization in 1960 for example. But for looking at the overall model and how everything relates to each other, this can be an extremely useful tool. Now, we just need to report these findings. </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dd3aeb131b_1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dd3aeb131b_1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Here is what an example of an SEM report in APA 7 looks like! We’ll break it down, but we’re just taking everything we’ve talked about so far and putting it into a couple paragraphs.</a:t>
            </a:r>
            <a:endParaRPr dirty="0"/>
          </a:p>
          <a:p>
            <a:pPr marL="457200" lvl="0" indent="-298450" algn="l" rtl="0">
              <a:spcBef>
                <a:spcPts val="0"/>
              </a:spcBef>
              <a:spcAft>
                <a:spcPts val="0"/>
              </a:spcAft>
              <a:buSzPts val="1100"/>
              <a:buChar char="●"/>
            </a:pPr>
            <a:r>
              <a:rPr lang="en" dirty="0"/>
              <a:t>Again, for demonstration purposes, I’m only reporting the chi-square and CFI. Kline (2023) recommends at least reporting the chi-square, RMSEA and its confidence interval, CFI, and SRMR. I was not writing all that in an airport, so you’ll have to make do. </a:t>
            </a:r>
            <a:endParaRPr dirty="0"/>
          </a:p>
          <a:p>
            <a:pPr marL="457200" lvl="0" indent="-298450" algn="l" rtl="0">
              <a:spcBef>
                <a:spcPts val="0"/>
              </a:spcBef>
              <a:spcAft>
                <a:spcPts val="0"/>
              </a:spcAft>
              <a:buSzPts val="1100"/>
              <a:buChar char="●"/>
            </a:pPr>
            <a:r>
              <a:rPr lang="en" dirty="0"/>
              <a:t>We also make sure to report the standardized betas, standard errors, and p-values for the regressions</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dd3aeb131b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dd3aeb131b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dd3aeb131b_1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dd3aeb131b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2" descr="C2-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14" name="Google Shape;14;p2"/>
          <p:cNvSpPr txBox="1">
            <a:spLocks noGrp="1"/>
          </p:cNvSpPr>
          <p:nvPr>
            <p:ph type="ctrTitle"/>
          </p:nvPr>
        </p:nvSpPr>
        <p:spPr>
          <a:xfrm>
            <a:off x="1028700" y="1352554"/>
            <a:ext cx="7086600" cy="1368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 name="Google Shape;15;p2"/>
          <p:cNvSpPr txBox="1">
            <a:spLocks noGrp="1"/>
          </p:cNvSpPr>
          <p:nvPr>
            <p:ph type="subTitle" idx="1"/>
          </p:nvPr>
        </p:nvSpPr>
        <p:spPr>
          <a:xfrm>
            <a:off x="1028700" y="2724151"/>
            <a:ext cx="7086600" cy="5145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dk1"/>
              </a:buClr>
              <a:buSzPts val="1500"/>
              <a:buNone/>
              <a:defRPr sz="15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6" name="Google Shape;16;p2"/>
          <p:cNvSpPr txBox="1">
            <a:spLocks noGrp="1"/>
          </p:cNvSpPr>
          <p:nvPr>
            <p:ph type="dt" idx="10"/>
          </p:nvPr>
        </p:nvSpPr>
        <p:spPr>
          <a:xfrm>
            <a:off x="5932171" y="3235746"/>
            <a:ext cx="2183100" cy="2811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Google Shape;17;p2"/>
          <p:cNvSpPr txBox="1">
            <a:spLocks noGrp="1"/>
          </p:cNvSpPr>
          <p:nvPr>
            <p:ph type="ftr" idx="11"/>
          </p:nvPr>
        </p:nvSpPr>
        <p:spPr>
          <a:xfrm>
            <a:off x="1028700" y="3242884"/>
            <a:ext cx="4800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Google Shape;18;p2"/>
          <p:cNvSpPr txBox="1">
            <a:spLocks noGrp="1"/>
          </p:cNvSpPr>
          <p:nvPr>
            <p:ph type="sldNum" idx="12"/>
          </p:nvPr>
        </p:nvSpPr>
        <p:spPr>
          <a:xfrm>
            <a:off x="6057900" y="10731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2171700" y="573280"/>
            <a:ext cx="6458100" cy="9699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 name="Google Shape;21;p3"/>
          <p:cNvSpPr txBox="1">
            <a:spLocks noGrp="1"/>
          </p:cNvSpPr>
          <p:nvPr>
            <p:ph type="body" idx="1"/>
          </p:nvPr>
        </p:nvSpPr>
        <p:spPr>
          <a:xfrm>
            <a:off x="514350" y="1645920"/>
            <a:ext cx="8115300" cy="30180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 name="Google Shape;22;p3"/>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Google Shape;23;p3"/>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Google Shape;24;p3"/>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4" descr="C2-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27" name="Google Shape;27;p4"/>
          <p:cNvSpPr txBox="1">
            <a:spLocks noGrp="1"/>
          </p:cNvSpPr>
          <p:nvPr>
            <p:ph type="title"/>
          </p:nvPr>
        </p:nvSpPr>
        <p:spPr>
          <a:xfrm>
            <a:off x="514350" y="565150"/>
            <a:ext cx="8115300" cy="2101500"/>
          </a:xfrm>
          <a:prstGeom prst="rect">
            <a:avLst/>
          </a:prstGeom>
          <a:noFill/>
          <a:ln>
            <a:noFill/>
          </a:ln>
        </p:spPr>
        <p:txBody>
          <a:bodyPr spcFirstLastPara="1" wrap="square" lIns="68575" tIns="34275" rIns="68575" bIns="34275" anchor="b" anchorCtr="0">
            <a:normAutofit/>
          </a:bodyPr>
          <a:lstStyle>
            <a:lvl1pPr lvl="0" algn="r">
              <a:lnSpc>
                <a:spcPct val="90000"/>
              </a:lnSpc>
              <a:spcBef>
                <a:spcPts val="0"/>
              </a:spcBef>
              <a:spcAft>
                <a:spcPts val="0"/>
              </a:spcAft>
              <a:buClr>
                <a:schemeClr val="dk1"/>
              </a:buClr>
              <a:buSzPts val="3000"/>
              <a:buFont typeface="Century Gothic"/>
              <a:buNone/>
              <a:defRPr sz="3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8" name="Google Shape;28;p4"/>
          <p:cNvSpPr txBox="1">
            <a:spLocks noGrp="1"/>
          </p:cNvSpPr>
          <p:nvPr>
            <p:ph type="body" idx="1"/>
          </p:nvPr>
        </p:nvSpPr>
        <p:spPr>
          <a:xfrm>
            <a:off x="768350" y="2731294"/>
            <a:ext cx="7867800" cy="716700"/>
          </a:xfrm>
          <a:prstGeom prst="rect">
            <a:avLst/>
          </a:prstGeom>
          <a:noFill/>
          <a:ln>
            <a:noFill/>
          </a:ln>
        </p:spPr>
        <p:txBody>
          <a:bodyPr spcFirstLastPara="1" wrap="square" lIns="68575" tIns="34275" rIns="68575" bIns="34275" anchor="t" anchorCtr="0">
            <a:normAutofit/>
          </a:bodyPr>
          <a:lstStyle>
            <a:lvl1pPr marL="457200" lvl="0" indent="-228600" algn="r">
              <a:lnSpc>
                <a:spcPct val="90000"/>
              </a:lnSpc>
              <a:spcBef>
                <a:spcPts val="800"/>
              </a:spcBef>
              <a:spcAft>
                <a:spcPts val="0"/>
              </a:spcAft>
              <a:buClr>
                <a:srgbClr val="888888"/>
              </a:buClr>
              <a:buSzPts val="1700"/>
              <a:buNone/>
              <a:defRPr sz="17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9" name="Google Shape;29;p4"/>
          <p:cNvSpPr txBox="1">
            <a:spLocks noGrp="1"/>
          </p:cNvSpPr>
          <p:nvPr>
            <p:ph type="dt" idx="10"/>
          </p:nvPr>
        </p:nvSpPr>
        <p:spPr>
          <a:xfrm>
            <a:off x="5860839" y="285750"/>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Google Shape;30;p4"/>
          <p:cNvSpPr txBox="1">
            <a:spLocks noGrp="1"/>
          </p:cNvSpPr>
          <p:nvPr>
            <p:ph type="ftr" idx="11"/>
          </p:nvPr>
        </p:nvSpPr>
        <p:spPr>
          <a:xfrm>
            <a:off x="514350" y="285751"/>
            <a:ext cx="5243700" cy="27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Google Shape;31;p4"/>
          <p:cNvSpPr txBox="1">
            <a:spLocks noGrp="1"/>
          </p:cNvSpPr>
          <p:nvPr>
            <p:ph type="sldNum" idx="12"/>
          </p:nvPr>
        </p:nvSpPr>
        <p:spPr>
          <a:xfrm>
            <a:off x="8146839" y="285750"/>
            <a:ext cx="4827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2171700" y="573280"/>
            <a:ext cx="6458100" cy="9699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4" name="Google Shape;34;p5"/>
          <p:cNvSpPr txBox="1">
            <a:spLocks noGrp="1"/>
          </p:cNvSpPr>
          <p:nvPr>
            <p:ph type="body" idx="1"/>
          </p:nvPr>
        </p:nvSpPr>
        <p:spPr>
          <a:xfrm>
            <a:off x="514350" y="1645919"/>
            <a:ext cx="4000500" cy="30180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5" name="Google Shape;35;p5"/>
          <p:cNvSpPr txBox="1">
            <a:spLocks noGrp="1"/>
          </p:cNvSpPr>
          <p:nvPr>
            <p:ph type="body" idx="2"/>
          </p:nvPr>
        </p:nvSpPr>
        <p:spPr>
          <a:xfrm>
            <a:off x="4629150" y="1645919"/>
            <a:ext cx="4000500" cy="30180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6" name="Google Shape;36;p5"/>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7" name="Google Shape;37;p5"/>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8" name="Google Shape;38;p5"/>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2171700" y="571500"/>
            <a:ext cx="6458100" cy="9717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1" name="Google Shape;41;p6"/>
          <p:cNvSpPr txBox="1">
            <a:spLocks noGrp="1"/>
          </p:cNvSpPr>
          <p:nvPr>
            <p:ph type="body" idx="1"/>
          </p:nvPr>
        </p:nvSpPr>
        <p:spPr>
          <a:xfrm>
            <a:off x="685807" y="1637852"/>
            <a:ext cx="38100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2100"/>
              <a:buNone/>
              <a:defRPr sz="21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2" name="Google Shape;42;p6"/>
          <p:cNvSpPr txBox="1">
            <a:spLocks noGrp="1"/>
          </p:cNvSpPr>
          <p:nvPr>
            <p:ph type="body" idx="2"/>
          </p:nvPr>
        </p:nvSpPr>
        <p:spPr>
          <a:xfrm>
            <a:off x="514350" y="2349499"/>
            <a:ext cx="3983700" cy="2314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3" name="Google Shape;43;p6"/>
          <p:cNvSpPr txBox="1">
            <a:spLocks noGrp="1"/>
          </p:cNvSpPr>
          <p:nvPr>
            <p:ph type="body" idx="3"/>
          </p:nvPr>
        </p:nvSpPr>
        <p:spPr>
          <a:xfrm>
            <a:off x="4800600" y="1637852"/>
            <a:ext cx="38289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2100"/>
              <a:buNone/>
              <a:defRPr sz="21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4" name="Google Shape;44;p6"/>
          <p:cNvSpPr txBox="1">
            <a:spLocks noGrp="1"/>
          </p:cNvSpPr>
          <p:nvPr>
            <p:ph type="body" idx="4"/>
          </p:nvPr>
        </p:nvSpPr>
        <p:spPr>
          <a:xfrm>
            <a:off x="4629150" y="2349499"/>
            <a:ext cx="4000500" cy="2314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5" name="Google Shape;45;p6"/>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6" name="Google Shape;46;p6"/>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7" name="Google Shape;47;p6"/>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7"/>
          <p:cNvSpPr txBox="1">
            <a:spLocks noGrp="1"/>
          </p:cNvSpPr>
          <p:nvPr>
            <p:ph type="title"/>
          </p:nvPr>
        </p:nvSpPr>
        <p:spPr>
          <a:xfrm>
            <a:off x="2171700" y="573280"/>
            <a:ext cx="6458100" cy="9699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0" name="Google Shape;50;p7"/>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1" name="Google Shape;51;p7"/>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Google Shape;52;p7"/>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Google Shape;55;p8"/>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Google Shape;56;p8"/>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514350" y="1143000"/>
            <a:ext cx="30861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9" name="Google Shape;59;p9"/>
          <p:cNvSpPr txBox="1">
            <a:spLocks noGrp="1"/>
          </p:cNvSpPr>
          <p:nvPr>
            <p:ph type="body" idx="1"/>
          </p:nvPr>
        </p:nvSpPr>
        <p:spPr>
          <a:xfrm>
            <a:off x="3746687" y="560069"/>
            <a:ext cx="4883100" cy="4104000"/>
          </a:xfrm>
          <a:prstGeom prst="rect">
            <a:avLst/>
          </a:prstGeom>
          <a:noFill/>
          <a:ln>
            <a:noFill/>
          </a:ln>
        </p:spPr>
        <p:txBody>
          <a:bodyPr spcFirstLastPara="1" wrap="square" lIns="68575" tIns="34275" rIns="68575" bIns="34275" anchor="ctr"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0" name="Google Shape;60;p9"/>
          <p:cNvSpPr txBox="1">
            <a:spLocks noGrp="1"/>
          </p:cNvSpPr>
          <p:nvPr>
            <p:ph type="body" idx="2"/>
          </p:nvPr>
        </p:nvSpPr>
        <p:spPr>
          <a:xfrm>
            <a:off x="514350" y="2343149"/>
            <a:ext cx="3086100" cy="23208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1" name="Google Shape;61;p9"/>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Google Shape;62;p9"/>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Google Shape;63;p9"/>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514350" y="1143000"/>
            <a:ext cx="51549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0"/>
          <p:cNvSpPr>
            <a:spLocks noGrp="1"/>
          </p:cNvSpPr>
          <p:nvPr>
            <p:ph type="pic" idx="2"/>
          </p:nvPr>
        </p:nvSpPr>
        <p:spPr>
          <a:xfrm>
            <a:off x="5895929" y="563431"/>
            <a:ext cx="2733600" cy="4100700"/>
          </a:xfrm>
          <a:prstGeom prst="rect">
            <a:avLst/>
          </a:prstGeom>
          <a:noFill/>
          <a:ln>
            <a:noFill/>
          </a:ln>
        </p:spPr>
      </p:sp>
      <p:sp>
        <p:nvSpPr>
          <p:cNvPr id="67" name="Google Shape;67;p10"/>
          <p:cNvSpPr txBox="1">
            <a:spLocks noGrp="1"/>
          </p:cNvSpPr>
          <p:nvPr>
            <p:ph type="body" idx="1"/>
          </p:nvPr>
        </p:nvSpPr>
        <p:spPr>
          <a:xfrm>
            <a:off x="514350" y="2343149"/>
            <a:ext cx="5154900" cy="23208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8" name="Google Shape;68;p10"/>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0"/>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0" name="Google Shape;70;p10"/>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514333" y="3523020"/>
            <a:ext cx="8116500" cy="6144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3" name="Google Shape;73;p11"/>
          <p:cNvSpPr>
            <a:spLocks noGrp="1"/>
          </p:cNvSpPr>
          <p:nvPr>
            <p:ph type="pic" idx="2"/>
          </p:nvPr>
        </p:nvSpPr>
        <p:spPr>
          <a:xfrm>
            <a:off x="511295" y="706079"/>
            <a:ext cx="8116500" cy="2608500"/>
          </a:xfrm>
          <a:prstGeom prst="rect">
            <a:avLst/>
          </a:prstGeom>
          <a:noFill/>
          <a:ln>
            <a:noFill/>
          </a:ln>
        </p:spPr>
      </p:sp>
      <p:sp>
        <p:nvSpPr>
          <p:cNvPr id="74" name="Google Shape;74;p11"/>
          <p:cNvSpPr txBox="1">
            <a:spLocks noGrp="1"/>
          </p:cNvSpPr>
          <p:nvPr>
            <p:ph type="body" idx="1"/>
          </p:nvPr>
        </p:nvSpPr>
        <p:spPr>
          <a:xfrm>
            <a:off x="514350" y="4137536"/>
            <a:ext cx="8115300" cy="526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75" name="Google Shape;75;p11"/>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6" name="Google Shape;76;p11"/>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7" name="Google Shape;77;p11"/>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12" descr="C2-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80" name="Google Shape;80;p12"/>
          <p:cNvSpPr txBox="1">
            <a:spLocks noGrp="1"/>
          </p:cNvSpPr>
          <p:nvPr>
            <p:ph type="title"/>
          </p:nvPr>
        </p:nvSpPr>
        <p:spPr>
          <a:xfrm>
            <a:off x="514350" y="565149"/>
            <a:ext cx="8115300" cy="21018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1" name="Google Shape;81;p12"/>
          <p:cNvSpPr txBox="1">
            <a:spLocks noGrp="1"/>
          </p:cNvSpPr>
          <p:nvPr>
            <p:ph type="body" idx="1"/>
          </p:nvPr>
        </p:nvSpPr>
        <p:spPr>
          <a:xfrm>
            <a:off x="768350" y="2736850"/>
            <a:ext cx="7597800" cy="7494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82" name="Google Shape;82;p12"/>
          <p:cNvSpPr txBox="1">
            <a:spLocks noGrp="1"/>
          </p:cNvSpPr>
          <p:nvPr>
            <p:ph type="dt" idx="10"/>
          </p:nvPr>
        </p:nvSpPr>
        <p:spPr>
          <a:xfrm>
            <a:off x="5860839" y="285750"/>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3" name="Google Shape;83;p12"/>
          <p:cNvSpPr txBox="1">
            <a:spLocks noGrp="1"/>
          </p:cNvSpPr>
          <p:nvPr>
            <p:ph type="ftr" idx="11"/>
          </p:nvPr>
        </p:nvSpPr>
        <p:spPr>
          <a:xfrm>
            <a:off x="514350" y="284956"/>
            <a:ext cx="52437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2"/>
          <p:cNvSpPr txBox="1">
            <a:spLocks noGrp="1"/>
          </p:cNvSpPr>
          <p:nvPr>
            <p:ph type="sldNum" idx="12"/>
          </p:nvPr>
        </p:nvSpPr>
        <p:spPr>
          <a:xfrm>
            <a:off x="8146839" y="285750"/>
            <a:ext cx="4827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13" descr="C2-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87" name="Google Shape;87;p13"/>
          <p:cNvSpPr txBox="1">
            <a:spLocks noGrp="1"/>
          </p:cNvSpPr>
          <p:nvPr>
            <p:ph type="title"/>
          </p:nvPr>
        </p:nvSpPr>
        <p:spPr>
          <a:xfrm>
            <a:off x="768350" y="565150"/>
            <a:ext cx="7613700" cy="1953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13"/>
          <p:cNvSpPr txBox="1">
            <a:spLocks noGrp="1"/>
          </p:cNvSpPr>
          <p:nvPr>
            <p:ph type="body" idx="1"/>
          </p:nvPr>
        </p:nvSpPr>
        <p:spPr>
          <a:xfrm>
            <a:off x="977899" y="2524167"/>
            <a:ext cx="7194600" cy="333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89" name="Google Shape;89;p13"/>
          <p:cNvSpPr txBox="1">
            <a:spLocks noGrp="1"/>
          </p:cNvSpPr>
          <p:nvPr>
            <p:ph type="body" idx="2"/>
          </p:nvPr>
        </p:nvSpPr>
        <p:spPr>
          <a:xfrm>
            <a:off x="768350" y="2969897"/>
            <a:ext cx="7613700" cy="5100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90" name="Google Shape;90;p13"/>
          <p:cNvSpPr txBox="1">
            <a:spLocks noGrp="1"/>
          </p:cNvSpPr>
          <p:nvPr>
            <p:ph type="dt" idx="10"/>
          </p:nvPr>
        </p:nvSpPr>
        <p:spPr>
          <a:xfrm>
            <a:off x="5860839" y="285750"/>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13"/>
          <p:cNvSpPr txBox="1">
            <a:spLocks noGrp="1"/>
          </p:cNvSpPr>
          <p:nvPr>
            <p:ph type="ftr" idx="11"/>
          </p:nvPr>
        </p:nvSpPr>
        <p:spPr>
          <a:xfrm>
            <a:off x="514350" y="284956"/>
            <a:ext cx="52437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13"/>
          <p:cNvSpPr txBox="1">
            <a:spLocks noGrp="1"/>
          </p:cNvSpPr>
          <p:nvPr>
            <p:ph type="sldNum" idx="12"/>
          </p:nvPr>
        </p:nvSpPr>
        <p:spPr>
          <a:xfrm>
            <a:off x="8146839" y="285750"/>
            <a:ext cx="4827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3"/>
          <p:cNvSpPr txBox="1"/>
          <p:nvPr/>
        </p:nvSpPr>
        <p:spPr>
          <a:xfrm>
            <a:off x="357188" y="700088"/>
            <a:ext cx="457200" cy="4386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6000"/>
              <a:buFont typeface="Century Gothic"/>
              <a:buNone/>
            </a:pPr>
            <a:r>
              <a:rPr lang="en" sz="6000" b="0" i="0" u="none" strike="noStrike" cap="none">
                <a:solidFill>
                  <a:schemeClr val="dk1"/>
                </a:solidFill>
                <a:latin typeface="Century Gothic"/>
                <a:ea typeface="Century Gothic"/>
                <a:cs typeface="Century Gothic"/>
                <a:sym typeface="Century Gothic"/>
              </a:rPr>
              <a:t>“</a:t>
            </a:r>
            <a:endParaRPr sz="1100"/>
          </a:p>
        </p:txBody>
      </p:sp>
      <p:sp>
        <p:nvSpPr>
          <p:cNvPr id="94" name="Google Shape;94;p13"/>
          <p:cNvSpPr txBox="1"/>
          <p:nvPr/>
        </p:nvSpPr>
        <p:spPr>
          <a:xfrm>
            <a:off x="8238173" y="2025968"/>
            <a:ext cx="457200" cy="43860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Clr>
                <a:schemeClr val="dk1"/>
              </a:buClr>
              <a:buSzPts val="6000"/>
              <a:buFont typeface="Century Gothic"/>
              <a:buNone/>
            </a:pPr>
            <a:r>
              <a:rPr lang="en" sz="6000" b="0" i="0" u="none" strike="noStrike" cap="none">
                <a:solidFill>
                  <a:schemeClr val="dk1"/>
                </a:solidFill>
                <a:latin typeface="Century Gothic"/>
                <a:ea typeface="Century Gothic"/>
                <a:cs typeface="Century Gothic"/>
                <a:sym typeface="Century Gothic"/>
              </a:rPr>
              <a:t>”</a:t>
            </a:r>
            <a:endParaRPr sz="11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14" descr="C2-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97" name="Google Shape;97;p14"/>
          <p:cNvSpPr txBox="1">
            <a:spLocks noGrp="1"/>
          </p:cNvSpPr>
          <p:nvPr>
            <p:ph type="title"/>
          </p:nvPr>
        </p:nvSpPr>
        <p:spPr>
          <a:xfrm>
            <a:off x="768371" y="843526"/>
            <a:ext cx="7609500" cy="1884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8" name="Google Shape;98;p14"/>
          <p:cNvSpPr txBox="1">
            <a:spLocks noGrp="1"/>
          </p:cNvSpPr>
          <p:nvPr>
            <p:ph type="body" idx="1"/>
          </p:nvPr>
        </p:nvSpPr>
        <p:spPr>
          <a:xfrm>
            <a:off x="768350" y="2736236"/>
            <a:ext cx="7608600" cy="7500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99" name="Google Shape;99;p14"/>
          <p:cNvSpPr txBox="1">
            <a:spLocks noGrp="1"/>
          </p:cNvSpPr>
          <p:nvPr>
            <p:ph type="dt" idx="10"/>
          </p:nvPr>
        </p:nvSpPr>
        <p:spPr>
          <a:xfrm>
            <a:off x="5860839" y="284162"/>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14"/>
          <p:cNvSpPr txBox="1">
            <a:spLocks noGrp="1"/>
          </p:cNvSpPr>
          <p:nvPr>
            <p:ph type="ftr" idx="11"/>
          </p:nvPr>
        </p:nvSpPr>
        <p:spPr>
          <a:xfrm>
            <a:off x="514350" y="284162"/>
            <a:ext cx="52437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14"/>
          <p:cNvSpPr txBox="1">
            <a:spLocks noGrp="1"/>
          </p:cNvSpPr>
          <p:nvPr>
            <p:ph type="sldNum" idx="12"/>
          </p:nvPr>
        </p:nvSpPr>
        <p:spPr>
          <a:xfrm>
            <a:off x="8146839" y="285750"/>
            <a:ext cx="4827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2171700" y="571499"/>
            <a:ext cx="6457800" cy="9780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15"/>
          <p:cNvSpPr txBox="1">
            <a:spLocks noGrp="1"/>
          </p:cNvSpPr>
          <p:nvPr>
            <p:ph type="body" idx="1"/>
          </p:nvPr>
        </p:nvSpPr>
        <p:spPr>
          <a:xfrm>
            <a:off x="514350" y="1651560"/>
            <a:ext cx="2592300" cy="4629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5" name="Google Shape;105;p15"/>
          <p:cNvSpPr txBox="1">
            <a:spLocks noGrp="1"/>
          </p:cNvSpPr>
          <p:nvPr>
            <p:ph type="body" idx="2"/>
          </p:nvPr>
        </p:nvSpPr>
        <p:spPr>
          <a:xfrm>
            <a:off x="514349" y="2178424"/>
            <a:ext cx="2592300" cy="2485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90000"/>
              </a:lnSpc>
              <a:spcBef>
                <a:spcPts val="400"/>
              </a:spcBef>
              <a:spcAft>
                <a:spcPts val="0"/>
              </a:spcAft>
              <a:buClr>
                <a:schemeClr val="dk1"/>
              </a:buClr>
              <a:buSzPts val="700"/>
              <a:buNone/>
              <a:defRPr sz="700"/>
            </a:lvl6pPr>
            <a:lvl7pPr marL="3200400" lvl="6" indent="-228600" algn="l">
              <a:lnSpc>
                <a:spcPct val="90000"/>
              </a:lnSpc>
              <a:spcBef>
                <a:spcPts val="400"/>
              </a:spcBef>
              <a:spcAft>
                <a:spcPts val="0"/>
              </a:spcAft>
              <a:buClr>
                <a:schemeClr val="dk1"/>
              </a:buClr>
              <a:buSzPts val="700"/>
              <a:buNone/>
              <a:defRPr sz="700"/>
            </a:lvl7pPr>
            <a:lvl8pPr marL="3657600" lvl="7" indent="-228600" algn="l">
              <a:lnSpc>
                <a:spcPct val="90000"/>
              </a:lnSpc>
              <a:spcBef>
                <a:spcPts val="400"/>
              </a:spcBef>
              <a:spcAft>
                <a:spcPts val="0"/>
              </a:spcAft>
              <a:buClr>
                <a:schemeClr val="dk1"/>
              </a:buClr>
              <a:buSzPts val="700"/>
              <a:buNone/>
              <a:defRPr sz="700"/>
            </a:lvl8pPr>
            <a:lvl9pPr marL="4114800" lvl="8" indent="-228600" algn="l">
              <a:lnSpc>
                <a:spcPct val="90000"/>
              </a:lnSpc>
              <a:spcBef>
                <a:spcPts val="400"/>
              </a:spcBef>
              <a:spcAft>
                <a:spcPts val="0"/>
              </a:spcAft>
              <a:buClr>
                <a:schemeClr val="dk1"/>
              </a:buClr>
              <a:buSzPts val="700"/>
              <a:buNone/>
              <a:defRPr sz="700"/>
            </a:lvl9pPr>
          </a:lstStyle>
          <a:p>
            <a:endParaRPr/>
          </a:p>
        </p:txBody>
      </p:sp>
      <p:sp>
        <p:nvSpPr>
          <p:cNvPr id="106" name="Google Shape;106;p15"/>
          <p:cNvSpPr txBox="1">
            <a:spLocks noGrp="1"/>
          </p:cNvSpPr>
          <p:nvPr>
            <p:ph type="body" idx="3"/>
          </p:nvPr>
        </p:nvSpPr>
        <p:spPr>
          <a:xfrm>
            <a:off x="3276600" y="1651000"/>
            <a:ext cx="2592300" cy="4698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7" name="Google Shape;107;p15"/>
          <p:cNvSpPr txBox="1">
            <a:spLocks noGrp="1"/>
          </p:cNvSpPr>
          <p:nvPr>
            <p:ph type="body" idx="4"/>
          </p:nvPr>
        </p:nvSpPr>
        <p:spPr>
          <a:xfrm>
            <a:off x="3275143" y="2178050"/>
            <a:ext cx="2592300" cy="24861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90000"/>
              </a:lnSpc>
              <a:spcBef>
                <a:spcPts val="400"/>
              </a:spcBef>
              <a:spcAft>
                <a:spcPts val="0"/>
              </a:spcAft>
              <a:buClr>
                <a:schemeClr val="dk1"/>
              </a:buClr>
              <a:buSzPts val="700"/>
              <a:buNone/>
              <a:defRPr sz="700"/>
            </a:lvl6pPr>
            <a:lvl7pPr marL="3200400" lvl="6" indent="-228600" algn="l">
              <a:lnSpc>
                <a:spcPct val="90000"/>
              </a:lnSpc>
              <a:spcBef>
                <a:spcPts val="400"/>
              </a:spcBef>
              <a:spcAft>
                <a:spcPts val="0"/>
              </a:spcAft>
              <a:buClr>
                <a:schemeClr val="dk1"/>
              </a:buClr>
              <a:buSzPts val="700"/>
              <a:buNone/>
              <a:defRPr sz="700"/>
            </a:lvl7pPr>
            <a:lvl8pPr marL="3657600" lvl="7" indent="-228600" algn="l">
              <a:lnSpc>
                <a:spcPct val="90000"/>
              </a:lnSpc>
              <a:spcBef>
                <a:spcPts val="400"/>
              </a:spcBef>
              <a:spcAft>
                <a:spcPts val="0"/>
              </a:spcAft>
              <a:buClr>
                <a:schemeClr val="dk1"/>
              </a:buClr>
              <a:buSzPts val="700"/>
              <a:buNone/>
              <a:defRPr sz="700"/>
            </a:lvl8pPr>
            <a:lvl9pPr marL="4114800" lvl="8" indent="-228600" algn="l">
              <a:lnSpc>
                <a:spcPct val="90000"/>
              </a:lnSpc>
              <a:spcBef>
                <a:spcPts val="400"/>
              </a:spcBef>
              <a:spcAft>
                <a:spcPts val="0"/>
              </a:spcAft>
              <a:buClr>
                <a:schemeClr val="dk1"/>
              </a:buClr>
              <a:buSzPts val="700"/>
              <a:buNone/>
              <a:defRPr sz="700"/>
            </a:lvl9pPr>
          </a:lstStyle>
          <a:p>
            <a:endParaRPr/>
          </a:p>
        </p:txBody>
      </p:sp>
      <p:sp>
        <p:nvSpPr>
          <p:cNvPr id="108" name="Google Shape;108;p15"/>
          <p:cNvSpPr txBox="1">
            <a:spLocks noGrp="1"/>
          </p:cNvSpPr>
          <p:nvPr>
            <p:ph type="body" idx="5"/>
          </p:nvPr>
        </p:nvSpPr>
        <p:spPr>
          <a:xfrm>
            <a:off x="6038850" y="1644650"/>
            <a:ext cx="2592300" cy="4698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9" name="Google Shape;109;p15"/>
          <p:cNvSpPr txBox="1">
            <a:spLocks noGrp="1"/>
          </p:cNvSpPr>
          <p:nvPr>
            <p:ph type="body" idx="6"/>
          </p:nvPr>
        </p:nvSpPr>
        <p:spPr>
          <a:xfrm>
            <a:off x="6038851" y="2178424"/>
            <a:ext cx="2592300" cy="2485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90000"/>
              </a:lnSpc>
              <a:spcBef>
                <a:spcPts val="400"/>
              </a:spcBef>
              <a:spcAft>
                <a:spcPts val="0"/>
              </a:spcAft>
              <a:buClr>
                <a:schemeClr val="dk1"/>
              </a:buClr>
              <a:buSzPts val="700"/>
              <a:buNone/>
              <a:defRPr sz="700"/>
            </a:lvl6pPr>
            <a:lvl7pPr marL="3200400" lvl="6" indent="-228600" algn="l">
              <a:lnSpc>
                <a:spcPct val="90000"/>
              </a:lnSpc>
              <a:spcBef>
                <a:spcPts val="400"/>
              </a:spcBef>
              <a:spcAft>
                <a:spcPts val="0"/>
              </a:spcAft>
              <a:buClr>
                <a:schemeClr val="dk1"/>
              </a:buClr>
              <a:buSzPts val="700"/>
              <a:buNone/>
              <a:defRPr sz="700"/>
            </a:lvl7pPr>
            <a:lvl8pPr marL="3657600" lvl="7" indent="-228600" algn="l">
              <a:lnSpc>
                <a:spcPct val="90000"/>
              </a:lnSpc>
              <a:spcBef>
                <a:spcPts val="400"/>
              </a:spcBef>
              <a:spcAft>
                <a:spcPts val="0"/>
              </a:spcAft>
              <a:buClr>
                <a:schemeClr val="dk1"/>
              </a:buClr>
              <a:buSzPts val="700"/>
              <a:buNone/>
              <a:defRPr sz="700"/>
            </a:lvl8pPr>
            <a:lvl9pPr marL="4114800" lvl="8" indent="-228600" algn="l">
              <a:lnSpc>
                <a:spcPct val="90000"/>
              </a:lnSpc>
              <a:spcBef>
                <a:spcPts val="400"/>
              </a:spcBef>
              <a:spcAft>
                <a:spcPts val="0"/>
              </a:spcAft>
              <a:buClr>
                <a:schemeClr val="dk1"/>
              </a:buClr>
              <a:buSzPts val="700"/>
              <a:buNone/>
              <a:defRPr sz="700"/>
            </a:lvl9pPr>
          </a:lstStyle>
          <a:p>
            <a:endParaRPr/>
          </a:p>
        </p:txBody>
      </p:sp>
      <p:sp>
        <p:nvSpPr>
          <p:cNvPr id="110" name="Google Shape;110;p15"/>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15"/>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15"/>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2171700" y="571500"/>
            <a:ext cx="6457800" cy="9717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16"/>
          <p:cNvSpPr txBox="1">
            <a:spLocks noGrp="1"/>
          </p:cNvSpPr>
          <p:nvPr>
            <p:ph type="body" idx="1"/>
          </p:nvPr>
        </p:nvSpPr>
        <p:spPr>
          <a:xfrm>
            <a:off x="516464" y="3143250"/>
            <a:ext cx="2588700" cy="5121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16" name="Google Shape;116;p16"/>
          <p:cNvSpPr>
            <a:spLocks noGrp="1"/>
          </p:cNvSpPr>
          <p:nvPr>
            <p:ph type="pic" idx="2"/>
          </p:nvPr>
        </p:nvSpPr>
        <p:spPr>
          <a:xfrm>
            <a:off x="516464" y="1771650"/>
            <a:ext cx="2588700" cy="1143000"/>
          </a:xfrm>
          <a:prstGeom prst="roundRect">
            <a:avLst>
              <a:gd name="adj" fmla="val 0"/>
            </a:avLst>
          </a:prstGeom>
          <a:noFill/>
          <a:ln>
            <a:noFill/>
          </a:ln>
          <a:effectLst>
            <a:outerShdw blurRad="50800" dist="50800" dir="5400000" algn="tl" rotWithShape="0">
              <a:srgbClr val="000000">
                <a:alpha val="42745"/>
              </a:srgbClr>
            </a:outerShdw>
          </a:effectLst>
        </p:spPr>
      </p:sp>
      <p:sp>
        <p:nvSpPr>
          <p:cNvPr id="117" name="Google Shape;117;p16"/>
          <p:cNvSpPr txBox="1">
            <a:spLocks noGrp="1"/>
          </p:cNvSpPr>
          <p:nvPr>
            <p:ph type="body" idx="3"/>
          </p:nvPr>
        </p:nvSpPr>
        <p:spPr>
          <a:xfrm>
            <a:off x="516464" y="3655323"/>
            <a:ext cx="2588700" cy="10086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90000"/>
              </a:lnSpc>
              <a:spcBef>
                <a:spcPts val="400"/>
              </a:spcBef>
              <a:spcAft>
                <a:spcPts val="0"/>
              </a:spcAft>
              <a:buClr>
                <a:schemeClr val="dk1"/>
              </a:buClr>
              <a:buSzPts val="700"/>
              <a:buNone/>
              <a:defRPr sz="700"/>
            </a:lvl6pPr>
            <a:lvl7pPr marL="3200400" lvl="6" indent="-228600" algn="l">
              <a:lnSpc>
                <a:spcPct val="90000"/>
              </a:lnSpc>
              <a:spcBef>
                <a:spcPts val="400"/>
              </a:spcBef>
              <a:spcAft>
                <a:spcPts val="0"/>
              </a:spcAft>
              <a:buClr>
                <a:schemeClr val="dk1"/>
              </a:buClr>
              <a:buSzPts val="700"/>
              <a:buNone/>
              <a:defRPr sz="700"/>
            </a:lvl7pPr>
            <a:lvl8pPr marL="3657600" lvl="7" indent="-228600" algn="l">
              <a:lnSpc>
                <a:spcPct val="90000"/>
              </a:lnSpc>
              <a:spcBef>
                <a:spcPts val="400"/>
              </a:spcBef>
              <a:spcAft>
                <a:spcPts val="0"/>
              </a:spcAft>
              <a:buClr>
                <a:schemeClr val="dk1"/>
              </a:buClr>
              <a:buSzPts val="700"/>
              <a:buNone/>
              <a:defRPr sz="700"/>
            </a:lvl8pPr>
            <a:lvl9pPr marL="4114800" lvl="8" indent="-228600" algn="l">
              <a:lnSpc>
                <a:spcPct val="90000"/>
              </a:lnSpc>
              <a:spcBef>
                <a:spcPts val="400"/>
              </a:spcBef>
              <a:spcAft>
                <a:spcPts val="0"/>
              </a:spcAft>
              <a:buClr>
                <a:schemeClr val="dk1"/>
              </a:buClr>
              <a:buSzPts val="700"/>
              <a:buNone/>
              <a:defRPr sz="700"/>
            </a:lvl9pPr>
          </a:lstStyle>
          <a:p>
            <a:endParaRPr/>
          </a:p>
        </p:txBody>
      </p:sp>
      <p:sp>
        <p:nvSpPr>
          <p:cNvPr id="118" name="Google Shape;118;p16"/>
          <p:cNvSpPr txBox="1">
            <a:spLocks noGrp="1"/>
          </p:cNvSpPr>
          <p:nvPr>
            <p:ph type="body" idx="4"/>
          </p:nvPr>
        </p:nvSpPr>
        <p:spPr>
          <a:xfrm>
            <a:off x="3280697" y="3143250"/>
            <a:ext cx="2586600" cy="5121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19" name="Google Shape;119;p16"/>
          <p:cNvSpPr>
            <a:spLocks noGrp="1"/>
          </p:cNvSpPr>
          <p:nvPr>
            <p:ph type="pic" idx="5"/>
          </p:nvPr>
        </p:nvSpPr>
        <p:spPr>
          <a:xfrm>
            <a:off x="3280697" y="1771650"/>
            <a:ext cx="2586600" cy="1143000"/>
          </a:xfrm>
          <a:prstGeom prst="roundRect">
            <a:avLst>
              <a:gd name="adj" fmla="val 0"/>
            </a:avLst>
          </a:prstGeom>
          <a:noFill/>
          <a:ln>
            <a:noFill/>
          </a:ln>
          <a:effectLst>
            <a:outerShdw blurRad="50800" dist="50800" dir="5400000" algn="tl" rotWithShape="0">
              <a:srgbClr val="000000">
                <a:alpha val="42745"/>
              </a:srgbClr>
            </a:outerShdw>
          </a:effectLst>
        </p:spPr>
      </p:sp>
      <p:sp>
        <p:nvSpPr>
          <p:cNvPr id="120" name="Google Shape;120;p16"/>
          <p:cNvSpPr txBox="1">
            <a:spLocks noGrp="1"/>
          </p:cNvSpPr>
          <p:nvPr>
            <p:ph type="body" idx="6"/>
          </p:nvPr>
        </p:nvSpPr>
        <p:spPr>
          <a:xfrm>
            <a:off x="3280698" y="3655322"/>
            <a:ext cx="2586600" cy="10086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90000"/>
              </a:lnSpc>
              <a:spcBef>
                <a:spcPts val="400"/>
              </a:spcBef>
              <a:spcAft>
                <a:spcPts val="0"/>
              </a:spcAft>
              <a:buClr>
                <a:schemeClr val="dk1"/>
              </a:buClr>
              <a:buSzPts val="700"/>
              <a:buNone/>
              <a:defRPr sz="700"/>
            </a:lvl6pPr>
            <a:lvl7pPr marL="3200400" lvl="6" indent="-228600" algn="l">
              <a:lnSpc>
                <a:spcPct val="90000"/>
              </a:lnSpc>
              <a:spcBef>
                <a:spcPts val="400"/>
              </a:spcBef>
              <a:spcAft>
                <a:spcPts val="0"/>
              </a:spcAft>
              <a:buClr>
                <a:schemeClr val="dk1"/>
              </a:buClr>
              <a:buSzPts val="700"/>
              <a:buNone/>
              <a:defRPr sz="700"/>
            </a:lvl7pPr>
            <a:lvl8pPr marL="3657600" lvl="7" indent="-228600" algn="l">
              <a:lnSpc>
                <a:spcPct val="90000"/>
              </a:lnSpc>
              <a:spcBef>
                <a:spcPts val="400"/>
              </a:spcBef>
              <a:spcAft>
                <a:spcPts val="0"/>
              </a:spcAft>
              <a:buClr>
                <a:schemeClr val="dk1"/>
              </a:buClr>
              <a:buSzPts val="700"/>
              <a:buNone/>
              <a:defRPr sz="700"/>
            </a:lvl8pPr>
            <a:lvl9pPr marL="4114800" lvl="8" indent="-228600" algn="l">
              <a:lnSpc>
                <a:spcPct val="90000"/>
              </a:lnSpc>
              <a:spcBef>
                <a:spcPts val="400"/>
              </a:spcBef>
              <a:spcAft>
                <a:spcPts val="0"/>
              </a:spcAft>
              <a:buClr>
                <a:schemeClr val="dk1"/>
              </a:buClr>
              <a:buSzPts val="700"/>
              <a:buNone/>
              <a:defRPr sz="700"/>
            </a:lvl9pPr>
          </a:lstStyle>
          <a:p>
            <a:endParaRPr/>
          </a:p>
        </p:txBody>
      </p:sp>
      <p:sp>
        <p:nvSpPr>
          <p:cNvPr id="121" name="Google Shape;121;p16"/>
          <p:cNvSpPr txBox="1">
            <a:spLocks noGrp="1"/>
          </p:cNvSpPr>
          <p:nvPr>
            <p:ph type="body" idx="7"/>
          </p:nvPr>
        </p:nvSpPr>
        <p:spPr>
          <a:xfrm>
            <a:off x="6037298" y="3143250"/>
            <a:ext cx="2592300" cy="5121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0">
                <a:solidFill>
                  <a:schemeClr val="dk1"/>
                </a:solidFil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22" name="Google Shape;122;p16"/>
          <p:cNvSpPr>
            <a:spLocks noGrp="1"/>
          </p:cNvSpPr>
          <p:nvPr>
            <p:ph type="pic" idx="8"/>
          </p:nvPr>
        </p:nvSpPr>
        <p:spPr>
          <a:xfrm>
            <a:off x="6037391" y="1771650"/>
            <a:ext cx="2586000" cy="1143000"/>
          </a:xfrm>
          <a:prstGeom prst="roundRect">
            <a:avLst>
              <a:gd name="adj" fmla="val 0"/>
            </a:avLst>
          </a:prstGeom>
          <a:noFill/>
          <a:ln>
            <a:noFill/>
          </a:ln>
          <a:effectLst>
            <a:outerShdw blurRad="50800" dist="50800" dir="5400000" algn="tl" rotWithShape="0">
              <a:srgbClr val="000000">
                <a:alpha val="42745"/>
              </a:srgbClr>
            </a:outerShdw>
          </a:effectLst>
        </p:spPr>
      </p:sp>
      <p:sp>
        <p:nvSpPr>
          <p:cNvPr id="123" name="Google Shape;123;p16"/>
          <p:cNvSpPr txBox="1">
            <a:spLocks noGrp="1"/>
          </p:cNvSpPr>
          <p:nvPr>
            <p:ph type="body" idx="9"/>
          </p:nvPr>
        </p:nvSpPr>
        <p:spPr>
          <a:xfrm>
            <a:off x="6037298" y="3655321"/>
            <a:ext cx="2589300" cy="10086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90000"/>
              </a:lnSpc>
              <a:spcBef>
                <a:spcPts val="400"/>
              </a:spcBef>
              <a:spcAft>
                <a:spcPts val="0"/>
              </a:spcAft>
              <a:buClr>
                <a:schemeClr val="dk1"/>
              </a:buClr>
              <a:buSzPts val="700"/>
              <a:buNone/>
              <a:defRPr sz="700"/>
            </a:lvl6pPr>
            <a:lvl7pPr marL="3200400" lvl="6" indent="-228600" algn="l">
              <a:lnSpc>
                <a:spcPct val="90000"/>
              </a:lnSpc>
              <a:spcBef>
                <a:spcPts val="400"/>
              </a:spcBef>
              <a:spcAft>
                <a:spcPts val="0"/>
              </a:spcAft>
              <a:buClr>
                <a:schemeClr val="dk1"/>
              </a:buClr>
              <a:buSzPts val="700"/>
              <a:buNone/>
              <a:defRPr sz="700"/>
            </a:lvl7pPr>
            <a:lvl8pPr marL="3657600" lvl="7" indent="-228600" algn="l">
              <a:lnSpc>
                <a:spcPct val="90000"/>
              </a:lnSpc>
              <a:spcBef>
                <a:spcPts val="400"/>
              </a:spcBef>
              <a:spcAft>
                <a:spcPts val="0"/>
              </a:spcAft>
              <a:buClr>
                <a:schemeClr val="dk1"/>
              </a:buClr>
              <a:buSzPts val="700"/>
              <a:buNone/>
              <a:defRPr sz="700"/>
            </a:lvl8pPr>
            <a:lvl9pPr marL="4114800" lvl="8" indent="-228600" algn="l">
              <a:lnSpc>
                <a:spcPct val="90000"/>
              </a:lnSpc>
              <a:spcBef>
                <a:spcPts val="400"/>
              </a:spcBef>
              <a:spcAft>
                <a:spcPts val="0"/>
              </a:spcAft>
              <a:buClr>
                <a:schemeClr val="dk1"/>
              </a:buClr>
              <a:buSzPts val="700"/>
              <a:buNone/>
              <a:defRPr sz="700"/>
            </a:lvl9pPr>
          </a:lstStyle>
          <a:p>
            <a:endParaRPr/>
          </a:p>
        </p:txBody>
      </p:sp>
      <p:sp>
        <p:nvSpPr>
          <p:cNvPr id="124" name="Google Shape;124;p16"/>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5" name="Google Shape;125;p16"/>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6" name="Google Shape;126;p16"/>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17"/>
          <p:cNvSpPr txBox="1">
            <a:spLocks noGrp="1"/>
          </p:cNvSpPr>
          <p:nvPr>
            <p:ph type="title"/>
          </p:nvPr>
        </p:nvSpPr>
        <p:spPr>
          <a:xfrm>
            <a:off x="2171700" y="573280"/>
            <a:ext cx="6458100" cy="9699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9" name="Google Shape;129;p17"/>
          <p:cNvSpPr txBox="1">
            <a:spLocks noGrp="1"/>
          </p:cNvSpPr>
          <p:nvPr>
            <p:ph type="body" idx="1"/>
          </p:nvPr>
        </p:nvSpPr>
        <p:spPr>
          <a:xfrm rot="5400000">
            <a:off x="3063000" y="-902731"/>
            <a:ext cx="3018000" cy="8115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0" name="Google Shape;130;p17"/>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1" name="Google Shape;131;p17"/>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2" name="Google Shape;132;p17"/>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18" descr="C2-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135" name="Google Shape;135;p18"/>
          <p:cNvSpPr txBox="1">
            <a:spLocks noGrp="1"/>
          </p:cNvSpPr>
          <p:nvPr>
            <p:ph type="title"/>
          </p:nvPr>
        </p:nvSpPr>
        <p:spPr>
          <a:xfrm rot="5400000">
            <a:off x="6394500" y="1251050"/>
            <a:ext cx="2927400" cy="15429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3000"/>
              <a:buFont typeface="Century Gothic"/>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6" name="Google Shape;136;p18"/>
          <p:cNvSpPr txBox="1">
            <a:spLocks noGrp="1"/>
          </p:cNvSpPr>
          <p:nvPr>
            <p:ph type="body" idx="1"/>
          </p:nvPr>
        </p:nvSpPr>
        <p:spPr>
          <a:xfrm rot="5400000">
            <a:off x="2381150" y="-1054150"/>
            <a:ext cx="2927400" cy="615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7" name="Google Shape;137;p18"/>
          <p:cNvSpPr txBox="1">
            <a:spLocks noGrp="1"/>
          </p:cNvSpPr>
          <p:nvPr>
            <p:ph type="dt" idx="10"/>
          </p:nvPr>
        </p:nvSpPr>
        <p:spPr>
          <a:xfrm>
            <a:off x="5860839" y="284956"/>
            <a:ext cx="2183100" cy="2739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8" name="Google Shape;138;p18"/>
          <p:cNvSpPr txBox="1">
            <a:spLocks noGrp="1"/>
          </p:cNvSpPr>
          <p:nvPr>
            <p:ph type="ftr" idx="11"/>
          </p:nvPr>
        </p:nvSpPr>
        <p:spPr>
          <a:xfrm>
            <a:off x="514350" y="285750"/>
            <a:ext cx="52437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9" name="Google Shape;139;p18"/>
          <p:cNvSpPr txBox="1">
            <a:spLocks noGrp="1"/>
          </p:cNvSpPr>
          <p:nvPr>
            <p:ph type="sldNum" idx="12"/>
          </p:nvPr>
        </p:nvSpPr>
        <p:spPr>
          <a:xfrm>
            <a:off x="8146839" y="285750"/>
            <a:ext cx="4827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19"/>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rmAutofit/>
          </a:bodyPr>
          <a:lstStyle>
            <a:lvl1pPr lvl="0" rtl="0">
              <a:spcBef>
                <a:spcPts val="0"/>
              </a:spcBef>
              <a:spcAft>
                <a:spcPts val="0"/>
              </a:spcAft>
              <a:buSzPts val="30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42" name="Google Shape;142;p19"/>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lvl1pPr marL="457200" lvl="0" indent="-336550" rtl="0">
              <a:spcBef>
                <a:spcPts val="800"/>
              </a:spcBef>
              <a:spcAft>
                <a:spcPts val="0"/>
              </a:spcAft>
              <a:buSzPts val="1700"/>
              <a:buChar char="•"/>
              <a:defRPr/>
            </a:lvl1pPr>
            <a:lvl2pPr marL="914400" lvl="1" indent="-323850" rtl="0">
              <a:spcBef>
                <a:spcPts val="400"/>
              </a:spcBef>
              <a:spcAft>
                <a:spcPts val="0"/>
              </a:spcAft>
              <a:buSzPts val="1500"/>
              <a:buChar char="•"/>
              <a:defRPr/>
            </a:lvl2pPr>
            <a:lvl3pPr marL="1371600" lvl="2" indent="-317500" rtl="0">
              <a:spcBef>
                <a:spcPts val="400"/>
              </a:spcBef>
              <a:spcAft>
                <a:spcPts val="0"/>
              </a:spcAft>
              <a:buSzPts val="1400"/>
              <a:buChar char="•"/>
              <a:defRPr/>
            </a:lvl3pPr>
            <a:lvl4pPr marL="1828800" lvl="3" indent="-304800" rtl="0">
              <a:spcBef>
                <a:spcPts val="400"/>
              </a:spcBef>
              <a:spcAft>
                <a:spcPts val="0"/>
              </a:spcAft>
              <a:buSzPts val="1200"/>
              <a:buChar char="•"/>
              <a:defRPr/>
            </a:lvl4pPr>
            <a:lvl5pPr marL="2286000" lvl="4" indent="-304800" rtl="0">
              <a:spcBef>
                <a:spcPts val="400"/>
              </a:spcBef>
              <a:spcAft>
                <a:spcPts val="0"/>
              </a:spcAft>
              <a:buSzPts val="1200"/>
              <a:buChar char="•"/>
              <a:defRPr/>
            </a:lvl5pPr>
            <a:lvl6pPr marL="2743200" lvl="5" indent="-304800" rtl="0">
              <a:spcBef>
                <a:spcPts val="400"/>
              </a:spcBef>
              <a:spcAft>
                <a:spcPts val="0"/>
              </a:spcAft>
              <a:buSzPts val="1200"/>
              <a:buChar char="•"/>
              <a:defRPr/>
            </a:lvl6pPr>
            <a:lvl7pPr marL="3200400" lvl="6" indent="-304800" rtl="0">
              <a:spcBef>
                <a:spcPts val="400"/>
              </a:spcBef>
              <a:spcAft>
                <a:spcPts val="0"/>
              </a:spcAft>
              <a:buSzPts val="1200"/>
              <a:buChar char="•"/>
              <a:defRPr/>
            </a:lvl7pPr>
            <a:lvl8pPr marL="3657600" lvl="7" indent="-304800" rtl="0">
              <a:spcBef>
                <a:spcPts val="400"/>
              </a:spcBef>
              <a:spcAft>
                <a:spcPts val="0"/>
              </a:spcAft>
              <a:buSzPts val="1200"/>
              <a:buChar char="•"/>
              <a:defRPr/>
            </a:lvl8pPr>
            <a:lvl9pPr marL="4114800" lvl="8" indent="-304800" rtl="0">
              <a:spcBef>
                <a:spcPts val="400"/>
              </a:spcBef>
              <a:spcAft>
                <a:spcPts val="0"/>
              </a:spcAft>
              <a:buSzPts val="1200"/>
              <a:buChar char="•"/>
              <a:defRPr/>
            </a:lvl9pPr>
          </a:lstStyle>
          <a:p>
            <a:endParaRPr/>
          </a:p>
        </p:txBody>
      </p:sp>
      <p:sp>
        <p:nvSpPr>
          <p:cNvPr id="143" name="Google Shape;143;p19"/>
          <p:cNvSpPr txBox="1">
            <a:spLocks noGrp="1"/>
          </p:cNvSpPr>
          <p:nvPr>
            <p:ph type="sldNum" idx="12"/>
          </p:nvPr>
        </p:nvSpPr>
        <p:spPr>
          <a:xfrm>
            <a:off x="8472458" y="4663217"/>
            <a:ext cx="548700" cy="393600"/>
          </a:xfrm>
          <a:prstGeom prst="rect">
            <a:avLst/>
          </a:prstGeom>
        </p:spPr>
        <p:txBody>
          <a:bodyPr spcFirstLastPara="1" wrap="square" lIns="68575" tIns="34275" rIns="68575" bIns="3427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144"/>
        <p:cNvGrpSpPr/>
        <p:nvPr/>
      </p:nvGrpSpPr>
      <p:grpSpPr>
        <a:xfrm>
          <a:off x="0" y="0"/>
          <a:ext cx="0" cy="0"/>
          <a:chOff x="0" y="0"/>
          <a:chExt cx="0" cy="0"/>
        </a:xfrm>
      </p:grpSpPr>
      <p:sp>
        <p:nvSpPr>
          <p:cNvPr id="145" name="Google Shape;145;p20"/>
          <p:cNvSpPr txBox="1">
            <a:spLocks noGrp="1"/>
          </p:cNvSpPr>
          <p:nvPr>
            <p:ph type="title"/>
          </p:nvPr>
        </p:nvSpPr>
        <p:spPr>
          <a:xfrm>
            <a:off x="311700" y="2150850"/>
            <a:ext cx="8520600" cy="841800"/>
          </a:xfrm>
          <a:prstGeom prst="rect">
            <a:avLst/>
          </a:prstGeom>
        </p:spPr>
        <p:txBody>
          <a:bodyPr spcFirstLastPara="1" wrap="square" lIns="68575" tIns="34275" rIns="68575" bIns="3427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6" name="Google Shape;146;p20"/>
          <p:cNvSpPr txBox="1">
            <a:spLocks noGrp="1"/>
          </p:cNvSpPr>
          <p:nvPr>
            <p:ph type="sldNum" idx="12"/>
          </p:nvPr>
        </p:nvSpPr>
        <p:spPr>
          <a:xfrm>
            <a:off x="8472458" y="4663217"/>
            <a:ext cx="548700" cy="393600"/>
          </a:xfrm>
          <a:prstGeom prst="rect">
            <a:avLst/>
          </a:prstGeom>
        </p:spPr>
        <p:txBody>
          <a:bodyPr spcFirstLastPara="1" wrap="square" lIns="68575" tIns="34275" rIns="68575" bIns="3427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descr="C2-HD-TOP.png"/>
          <p:cNvPicPr preferRelativeResize="0"/>
          <p:nvPr/>
        </p:nvPicPr>
        <p:blipFill rotWithShape="1">
          <a:blip r:embed="rId21">
            <a:alphaModFix/>
          </a:blip>
          <a:srcRect/>
          <a:stretch/>
        </p:blipFill>
        <p:spPr>
          <a:xfrm>
            <a:off x="0" y="0"/>
            <a:ext cx="9144000" cy="1081088"/>
          </a:xfrm>
          <a:prstGeom prst="rect">
            <a:avLst/>
          </a:prstGeom>
          <a:noFill/>
          <a:ln>
            <a:noFill/>
          </a:ln>
        </p:spPr>
      </p:pic>
      <p:sp>
        <p:nvSpPr>
          <p:cNvPr id="7" name="Google Shape;7;p1"/>
          <p:cNvSpPr txBox="1">
            <a:spLocks noGrp="1"/>
          </p:cNvSpPr>
          <p:nvPr>
            <p:ph type="title"/>
          </p:nvPr>
        </p:nvSpPr>
        <p:spPr>
          <a:xfrm>
            <a:off x="2171700" y="573280"/>
            <a:ext cx="6458100" cy="969900"/>
          </a:xfrm>
          <a:prstGeom prst="rect">
            <a:avLst/>
          </a:prstGeom>
          <a:noFill/>
          <a:ln>
            <a:noFill/>
          </a:ln>
        </p:spPr>
        <p:txBody>
          <a:bodyPr spcFirstLastPara="1" wrap="square" lIns="68575" tIns="34275" rIns="68575" bIns="34275" anchor="ctr" anchorCtr="0">
            <a:normAutofit/>
          </a:bodyPr>
          <a:lstStyle>
            <a:lvl1pPr marR="0" lvl="0" algn="r" rtl="0">
              <a:lnSpc>
                <a:spcPct val="90000"/>
              </a:lnSpc>
              <a:spcBef>
                <a:spcPts val="0"/>
              </a:spcBef>
              <a:spcAft>
                <a:spcPts val="0"/>
              </a:spcAft>
              <a:buClr>
                <a:schemeClr val="dk1"/>
              </a:buClr>
              <a:buSzPts val="3000"/>
              <a:buFont typeface="Century Gothic"/>
              <a:buNone/>
              <a:defRPr sz="3000" b="0"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8" name="Google Shape;8;p1"/>
          <p:cNvSpPr txBox="1">
            <a:spLocks noGrp="1"/>
          </p:cNvSpPr>
          <p:nvPr>
            <p:ph type="body" idx="1"/>
          </p:nvPr>
        </p:nvSpPr>
        <p:spPr>
          <a:xfrm>
            <a:off x="514350" y="1645920"/>
            <a:ext cx="8115300" cy="3018000"/>
          </a:xfrm>
          <a:prstGeom prst="rect">
            <a:avLst/>
          </a:prstGeom>
          <a:noFill/>
          <a:ln>
            <a:noFill/>
          </a:ln>
        </p:spPr>
        <p:txBody>
          <a:bodyPr spcFirstLastPara="1" wrap="square" lIns="68575" tIns="34275" rIns="68575" bIns="34275" anchor="t" anchorCtr="0">
            <a:normAutofit/>
          </a:bodyPr>
          <a:lstStyle>
            <a:lvl1pPr marL="457200" marR="0" lvl="0" indent="-336550" algn="l" rtl="0">
              <a:lnSpc>
                <a:spcPct val="90000"/>
              </a:lnSpc>
              <a:spcBef>
                <a:spcPts val="800"/>
              </a:spcBef>
              <a:spcAft>
                <a:spcPts val="0"/>
              </a:spcAft>
              <a:buClr>
                <a:schemeClr val="dk1"/>
              </a:buClr>
              <a:buSzPts val="1700"/>
              <a:buFont typeface="Arial"/>
              <a:buChar char="•"/>
              <a:defRPr sz="1700" b="0" i="0" u="none" strike="noStrike" cap="none">
                <a:solidFill>
                  <a:schemeClr val="dk1"/>
                </a:solidFill>
                <a:latin typeface="Century Gothic"/>
                <a:ea typeface="Century Gothic"/>
                <a:cs typeface="Century Gothic"/>
                <a:sym typeface="Century Gothic"/>
              </a:defRPr>
            </a:lvl1pPr>
            <a:lvl2pPr marL="914400" marR="0" lvl="1"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2pPr>
            <a:lvl3pPr marL="1371600" marR="0" lvl="2"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5pPr>
            <a:lvl6pPr marL="2743200" marR="0" lvl="5"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6pPr>
            <a:lvl7pPr marL="3200400" marR="0" lvl="6"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7pPr>
            <a:lvl8pPr marL="3657600" marR="0" lvl="7"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8pPr>
            <a:lvl9pPr marL="4114800" marR="0" lvl="8"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9pPr>
          </a:lstStyle>
          <a:p>
            <a:endParaRPr/>
          </a:p>
        </p:txBody>
      </p:sp>
      <p:sp>
        <p:nvSpPr>
          <p:cNvPr id="9" name="Google Shape;9;p1"/>
          <p:cNvSpPr txBox="1">
            <a:spLocks noGrp="1"/>
          </p:cNvSpPr>
          <p:nvPr>
            <p:ph type="dt" idx="10"/>
          </p:nvPr>
        </p:nvSpPr>
        <p:spPr>
          <a:xfrm>
            <a:off x="6446520" y="4767263"/>
            <a:ext cx="2183100" cy="273900"/>
          </a:xfrm>
          <a:prstGeom prst="rect">
            <a:avLst/>
          </a:prstGeom>
          <a:noFill/>
          <a:ln>
            <a:noFill/>
          </a:ln>
        </p:spPr>
        <p:txBody>
          <a:bodyPr spcFirstLastPara="1" wrap="square" lIns="68575" tIns="34275" rIns="68575" bIns="34275" anchor="ctr" anchorCtr="0">
            <a:noAutofit/>
          </a:bodyPr>
          <a:lstStyle>
            <a:lvl1pPr marR="0" lvl="0" algn="r" rtl="0">
              <a:spcBef>
                <a:spcPts val="0"/>
              </a:spcBef>
              <a:spcAft>
                <a:spcPts val="0"/>
              </a:spcAft>
              <a:buSzPts val="1100"/>
              <a:buNone/>
              <a:defRPr sz="8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0" name="Google Shape;10;p1"/>
          <p:cNvSpPr txBox="1">
            <a:spLocks noGrp="1"/>
          </p:cNvSpPr>
          <p:nvPr>
            <p:ph type="ftr" idx="11"/>
          </p:nvPr>
        </p:nvSpPr>
        <p:spPr>
          <a:xfrm>
            <a:off x="514350" y="4766884"/>
            <a:ext cx="58293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8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1" name="Google Shape;11;p1"/>
          <p:cNvSpPr txBox="1">
            <a:spLocks noGrp="1"/>
          </p:cNvSpPr>
          <p:nvPr>
            <p:ph type="sldNum" idx="12"/>
          </p:nvPr>
        </p:nvSpPr>
        <p:spPr>
          <a:xfrm>
            <a:off x="6572250" y="285750"/>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800" b="0" i="0" u="none" strike="noStrike" cap="none">
                <a:solidFill>
                  <a:srgbClr val="888888"/>
                </a:solidFill>
                <a:latin typeface="Century Gothic"/>
                <a:ea typeface="Century Gothic"/>
                <a:cs typeface="Century Gothic"/>
                <a:sym typeface="Century Gothic"/>
              </a:defRPr>
            </a:lvl1pPr>
            <a:lvl2pPr marL="0" marR="0" lvl="1" indent="0" algn="r" rtl="0">
              <a:spcBef>
                <a:spcPts val="0"/>
              </a:spcBef>
              <a:buNone/>
              <a:defRPr sz="8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8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8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8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8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8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8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8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1027/1614-2241/a000130" TargetMode="External"/><Relationship Id="rId3" Type="http://schemas.openxmlformats.org/officeDocument/2006/relationships/hyperlink" Target="https://doi.org/10.1016/j.ssresearch.2016.02.002" TargetMode="External"/><Relationship Id="rId7" Type="http://schemas.openxmlformats.org/officeDocument/2006/relationships/hyperlink" Target="https://rpubs.com/kareena_delrosario/lavaan_intro_medsem" TargetMode="External"/><Relationship Id="rId2" Type="http://schemas.openxmlformats.org/officeDocument/2006/relationships/notesSlide" Target="../notesSlides/notesSlide23.xml"/><Relationship Id="rId1" Type="http://schemas.openxmlformats.org/officeDocument/2006/relationships/slideLayout" Target="../slideLayouts/slideLayout18.xml"/><Relationship Id="rId6" Type="http://schemas.openxmlformats.org/officeDocument/2006/relationships/hyperlink" Target="https://towardsdatascience.com/structural-equations-models-3d8578952f87/" TargetMode="External"/><Relationship Id="rId11" Type="http://schemas.openxmlformats.org/officeDocument/2006/relationships/hyperlink" Target="https://doi.org/10.1016/B0-08-043076-7/00776-2" TargetMode="External"/><Relationship Id="rId5" Type="http://schemas.openxmlformats.org/officeDocument/2006/relationships/hyperlink" Target="https://doi.org/10.1016/j.ssresearch.2022.102769" TargetMode="External"/><Relationship Id="rId10" Type="http://schemas.openxmlformats.org/officeDocument/2006/relationships/hyperlink" Target="https://www.jmp.com/en/statistics-knowledge-portal/structural-equation-modeling" TargetMode="External"/><Relationship Id="rId4" Type="http://schemas.openxmlformats.org/officeDocument/2006/relationships/hyperlink" Target="https://doi.org/10.1002/9781118619179" TargetMode="External"/><Relationship Id="rId9" Type="http://schemas.openxmlformats.org/officeDocument/2006/relationships/hyperlink" Target="https://doi.org/10.1002/9781119579038"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github.com/dr-JT/semoutput" TargetMode="External"/><Relationship Id="rId3" Type="http://schemas.openxmlformats.org/officeDocument/2006/relationships/hyperlink" Target="https://eajournals.org/ijqqrm/vol-5-issue-4-september-2017/structure-equation-modeling-basic-assumptions-concepts-novices-guide-2/" TargetMode="External"/><Relationship Id="rId7" Type="http://schemas.openxmlformats.org/officeDocument/2006/relationships/hyperlink" Target="https://doi.org/10.1146/annurev.clinpsy.1.102803.144239" TargetMode="External"/><Relationship Id="rId2" Type="http://schemas.openxmlformats.org/officeDocument/2006/relationships/notesSlide" Target="../notesSlides/notesSlide24.xml"/><Relationship Id="rId1" Type="http://schemas.openxmlformats.org/officeDocument/2006/relationships/slideLayout" Target="../slideLayouts/slideLayout18.xml"/><Relationship Id="rId6" Type="http://schemas.openxmlformats.org/officeDocument/2006/relationships/hyperlink" Target="https://doi.org/10.2307/1412107" TargetMode="External"/><Relationship Id="rId5" Type="http://schemas.openxmlformats.org/officeDocument/2006/relationships/hyperlink" Target="https://doi.org/10.1111/bmsp.70003" TargetMode="External"/><Relationship Id="rId4" Type="http://schemas.openxmlformats.org/officeDocument/2006/relationships/hyperlink" Target="https://doi.org/10.1037/1082-989X.10.3.25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1"/>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sz="5000" b="1">
                <a:latin typeface="Helvetica Neue"/>
                <a:ea typeface="Helvetica Neue"/>
                <a:cs typeface="Helvetica Neue"/>
                <a:sym typeface="Helvetica Neue"/>
              </a:rPr>
              <a:t>Structural Equation Modeling (SEM)</a:t>
            </a:r>
            <a:endParaRPr sz="5000" b="1">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311700" y="2150850"/>
            <a:ext cx="8520600" cy="8418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4500" b="1">
                <a:latin typeface="Helvetica Neue"/>
                <a:ea typeface="Helvetica Neue"/>
                <a:cs typeface="Helvetica Neue"/>
                <a:sym typeface="Helvetica Neue"/>
              </a:rPr>
              <a:t>Introduction</a:t>
            </a:r>
            <a:endParaRPr sz="4500" b="1">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What is SEM?</a:t>
            </a:r>
            <a:endParaRPr b="1">
              <a:latin typeface="Helvetica Neue"/>
              <a:ea typeface="Helvetica Neue"/>
              <a:cs typeface="Helvetica Neue"/>
              <a:sym typeface="Helvetica Neue"/>
            </a:endParaRPr>
          </a:p>
        </p:txBody>
      </p:sp>
      <p:sp>
        <p:nvSpPr>
          <p:cNvPr id="170" name="Google Shape;170;p24"/>
          <p:cNvSpPr txBox="1">
            <a:spLocks noGrp="1"/>
          </p:cNvSpPr>
          <p:nvPr>
            <p:ph type="body" idx="1"/>
          </p:nvPr>
        </p:nvSpPr>
        <p:spPr>
          <a:xfrm>
            <a:off x="514350" y="1151076"/>
            <a:ext cx="8115300" cy="35130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SzPts val="2000"/>
              <a:buFont typeface="Helvetica Neue"/>
              <a:buChar char="❖"/>
            </a:pPr>
            <a:r>
              <a:rPr lang="en" sz="2000" b="1">
                <a:latin typeface="Helvetica Neue"/>
                <a:ea typeface="Helvetica Neue"/>
                <a:cs typeface="Helvetica Neue"/>
                <a:sym typeface="Helvetica Neue"/>
              </a:rPr>
              <a:t>Structural equation modeling</a:t>
            </a:r>
            <a:r>
              <a:rPr lang="en" sz="2000">
                <a:latin typeface="Helvetica Neue"/>
                <a:ea typeface="Helvetica Neue"/>
                <a:cs typeface="Helvetica Neue"/>
                <a:sym typeface="Helvetica Neue"/>
              </a:rPr>
              <a:t> (SEM) is a family of statistical procedures</a:t>
            </a:r>
            <a:endParaRPr sz="12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Analyze complex multivariate relationships</a:t>
            </a:r>
            <a:endParaRPr sz="18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Causal inference method</a:t>
            </a:r>
            <a:endParaRPr sz="18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Great for testing </a:t>
            </a:r>
            <a:r>
              <a:rPr lang="en" sz="2000" b="1">
                <a:latin typeface="Helvetica Neue"/>
                <a:ea typeface="Helvetica Neue"/>
                <a:cs typeface="Helvetica Neue"/>
                <a:sym typeface="Helvetica Neue"/>
              </a:rPr>
              <a:t>theoretical</a:t>
            </a:r>
            <a:r>
              <a:rPr lang="en" sz="2000">
                <a:latin typeface="Helvetica Neue"/>
                <a:ea typeface="Helvetica Neue"/>
                <a:cs typeface="Helvetica Neue"/>
                <a:sym typeface="Helvetica Neue"/>
              </a:rPr>
              <a:t> variables and getting numerical outputs</a:t>
            </a:r>
            <a:endParaRPr sz="20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Takes qualitative, theoretical hypotheses and turns them into numeric estimates</a:t>
            </a:r>
            <a:endParaRPr sz="18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Success isn’t based on if the model “fits” the data, but if the analysis is able to address those theoretical issues</a:t>
            </a:r>
            <a:endParaRPr sz="2000">
              <a:latin typeface="Helvetica Neue"/>
              <a:ea typeface="Helvetica Neue"/>
              <a:cs typeface="Helvetica Neue"/>
              <a:sym typeface="Helvetica Neue"/>
            </a:endParaRPr>
          </a:p>
        </p:txBody>
      </p:sp>
      <p:sp>
        <p:nvSpPr>
          <p:cNvPr id="171" name="Google Shape;171;p24"/>
          <p:cNvSpPr txBox="1"/>
          <p:nvPr/>
        </p:nvSpPr>
        <p:spPr>
          <a:xfrm>
            <a:off x="80475" y="4664075"/>
            <a:ext cx="1706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(Kline, 2023)</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5"/>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SEM: The Origin Story</a:t>
            </a:r>
            <a:endParaRPr b="1">
              <a:latin typeface="Helvetica Neue"/>
              <a:ea typeface="Helvetica Neue"/>
              <a:cs typeface="Helvetica Neue"/>
              <a:sym typeface="Helvetica Neue"/>
            </a:endParaRPr>
          </a:p>
        </p:txBody>
      </p:sp>
      <p:sp>
        <p:nvSpPr>
          <p:cNvPr id="177" name="Google Shape;177;p25"/>
          <p:cNvSpPr txBox="1">
            <a:spLocks noGrp="1"/>
          </p:cNvSpPr>
          <p:nvPr>
            <p:ph type="body" idx="1"/>
          </p:nvPr>
        </p:nvSpPr>
        <p:spPr>
          <a:xfrm>
            <a:off x="514350" y="1151076"/>
            <a:ext cx="8115300" cy="35130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SzPts val="2000"/>
              <a:buFont typeface="Helvetica Neue"/>
              <a:buChar char="❖"/>
            </a:pPr>
            <a:r>
              <a:rPr lang="en" sz="2000">
                <a:latin typeface="Helvetica Neue"/>
                <a:ea typeface="Helvetica Neue"/>
                <a:cs typeface="Helvetica Neue"/>
                <a:sym typeface="Helvetica Neue"/>
              </a:rPr>
              <a:t>Origins in the social psychology field</a:t>
            </a:r>
            <a:endParaRPr sz="20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Spearman’s</a:t>
            </a:r>
            <a:r>
              <a:rPr lang="en" sz="1800">
                <a:latin typeface="Helvetica Neue"/>
                <a:ea typeface="Helvetica Neue"/>
                <a:cs typeface="Helvetica Neue"/>
                <a:sym typeface="Helvetica Neue"/>
              </a:rPr>
              <a:t> factor analysis (1904)</a:t>
            </a:r>
            <a:endParaRPr sz="18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Looking at general intelligence underlying test performance</a:t>
            </a:r>
            <a:endParaRPr sz="16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Wright’s</a:t>
            </a:r>
            <a:r>
              <a:rPr lang="en" sz="1800">
                <a:latin typeface="Helvetica Neue"/>
                <a:ea typeface="Helvetica Neue"/>
                <a:cs typeface="Helvetica Neue"/>
                <a:sym typeface="Helvetica Neue"/>
              </a:rPr>
              <a:t> path analysis (1918; 1921)</a:t>
            </a:r>
            <a:endParaRPr sz="18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Biological and genetic focus</a:t>
            </a:r>
            <a:endParaRPr sz="16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SEM is widely used in psychology</a:t>
            </a:r>
            <a:endParaRPr sz="20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Beierlein et al. (2016) → “group-focused enmity”</a:t>
            </a:r>
            <a:endParaRPr sz="18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Assess several different things in one model</a:t>
            </a:r>
            <a:endParaRPr sz="1800">
              <a:latin typeface="Helvetica Neue"/>
              <a:ea typeface="Helvetica Neue"/>
              <a:cs typeface="Helvetica Neue"/>
              <a:sym typeface="Helvetica Neue"/>
            </a:endParaRPr>
          </a:p>
        </p:txBody>
      </p:sp>
      <p:sp>
        <p:nvSpPr>
          <p:cNvPr id="178" name="Google Shape;178;p25"/>
          <p:cNvSpPr txBox="1"/>
          <p:nvPr/>
        </p:nvSpPr>
        <p:spPr>
          <a:xfrm>
            <a:off x="80475" y="4664075"/>
            <a:ext cx="1706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(Bollen et al., 2022)</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6"/>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Example Research Question</a:t>
            </a:r>
            <a:endParaRPr b="1">
              <a:latin typeface="Helvetica Neue"/>
              <a:ea typeface="Helvetica Neue"/>
              <a:cs typeface="Helvetica Neue"/>
              <a:sym typeface="Helvetica Neue"/>
            </a:endParaRPr>
          </a:p>
        </p:txBody>
      </p:sp>
      <p:sp>
        <p:nvSpPr>
          <p:cNvPr id="184" name="Google Shape;184;p26"/>
          <p:cNvSpPr txBox="1">
            <a:spLocks noGrp="1"/>
          </p:cNvSpPr>
          <p:nvPr>
            <p:ph type="body" idx="1"/>
          </p:nvPr>
        </p:nvSpPr>
        <p:spPr>
          <a:xfrm>
            <a:off x="514350" y="1151076"/>
            <a:ext cx="8115300" cy="3513000"/>
          </a:xfrm>
          <a:prstGeom prst="rect">
            <a:avLst/>
          </a:prstGeom>
        </p:spPr>
        <p:txBody>
          <a:bodyPr spcFirstLastPara="1" wrap="square" lIns="68575" tIns="34275" rIns="68575" bIns="34275" anchor="t" anchorCtr="0">
            <a:normAutofit lnSpcReduction="10000"/>
          </a:bodyPr>
          <a:lstStyle/>
          <a:p>
            <a:pPr marL="457200" lvl="0" indent="-355600" algn="l" rtl="0">
              <a:lnSpc>
                <a:spcPct val="115000"/>
              </a:lnSpc>
              <a:spcBef>
                <a:spcPts val="800"/>
              </a:spcBef>
              <a:spcAft>
                <a:spcPts val="0"/>
              </a:spcAft>
              <a:buSzPts val="2000"/>
              <a:buFont typeface="Helvetica Neue"/>
              <a:buChar char="❖"/>
            </a:pPr>
            <a:r>
              <a:rPr lang="en" sz="2000">
                <a:latin typeface="Helvetica Neue"/>
                <a:ea typeface="Helvetica Neue"/>
                <a:cs typeface="Helvetica Neue"/>
                <a:sym typeface="Helvetica Neue"/>
              </a:rPr>
              <a:t>Industrialization and Political Democracy dataset (Bollen, 1989)</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Two abstract variables:</a:t>
            </a:r>
            <a:endParaRPr sz="20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Industrialization</a:t>
            </a:r>
            <a:endParaRPr sz="1800" b="1">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x1: Gross National Product per Capita</a:t>
            </a:r>
            <a:endParaRPr sz="16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x2: Energy Consumption per Capita</a:t>
            </a:r>
            <a:endParaRPr sz="16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x3: Percentage of Labor Force in Industry</a:t>
            </a:r>
            <a:endParaRPr sz="16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Political Democracy</a:t>
            </a:r>
            <a:endParaRPr sz="18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y1: Freedom of the Press</a:t>
            </a:r>
            <a:endParaRPr sz="16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y2: Freedom of Political Opposition</a:t>
            </a:r>
            <a:endParaRPr sz="16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y3: Fairness of Elections</a:t>
            </a:r>
            <a:endParaRPr sz="16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y4: Effectiveness of the Elected Legislature</a:t>
            </a:r>
            <a:endParaRPr sz="1600">
              <a:latin typeface="Helvetica Neue"/>
              <a:ea typeface="Helvetica Neue"/>
              <a:cs typeface="Helvetica Neue"/>
              <a:sym typeface="Helvetica Neue"/>
            </a:endParaRPr>
          </a:p>
          <a:p>
            <a:pPr marL="1371600" lvl="2" indent="-330200" algn="l" rtl="0">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Same 4 measured again in 1965, renamed y5, etc. </a:t>
            </a:r>
            <a:endParaRPr sz="2000" b="1">
              <a:latin typeface="Helvetica Neue"/>
              <a:ea typeface="Helvetica Neue"/>
              <a:cs typeface="Helvetica Neue"/>
              <a:sym typeface="Helvetica Neue"/>
            </a:endParaRPr>
          </a:p>
        </p:txBody>
      </p:sp>
      <p:sp>
        <p:nvSpPr>
          <p:cNvPr id="185" name="Google Shape;185;p26"/>
          <p:cNvSpPr txBox="1"/>
          <p:nvPr/>
        </p:nvSpPr>
        <p:spPr>
          <a:xfrm>
            <a:off x="80475" y="4664075"/>
            <a:ext cx="344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(Bollen, 1989; Rosseel &amp; Vidal, 2025)</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7"/>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Example Research Question</a:t>
            </a:r>
            <a:endParaRPr b="1">
              <a:latin typeface="Helvetica Neue"/>
              <a:ea typeface="Helvetica Neue"/>
              <a:cs typeface="Helvetica Neue"/>
              <a:sym typeface="Helvetica Neue"/>
            </a:endParaRPr>
          </a:p>
        </p:txBody>
      </p:sp>
      <p:sp>
        <p:nvSpPr>
          <p:cNvPr id="191" name="Google Shape;191;p27"/>
          <p:cNvSpPr txBox="1">
            <a:spLocks noGrp="1"/>
          </p:cNvSpPr>
          <p:nvPr>
            <p:ph type="body" idx="1"/>
          </p:nvPr>
        </p:nvSpPr>
        <p:spPr>
          <a:xfrm>
            <a:off x="514350" y="1151076"/>
            <a:ext cx="8115300" cy="35130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SzPts val="2000"/>
              <a:buFont typeface="Helvetica Neue"/>
              <a:buAutoNum type="arabicPeriod"/>
            </a:pPr>
            <a:r>
              <a:rPr lang="en" sz="2000" b="1">
                <a:latin typeface="Helvetica Neue"/>
                <a:ea typeface="Helvetica Neue"/>
                <a:cs typeface="Helvetica Neue"/>
                <a:sym typeface="Helvetica Neue"/>
              </a:rPr>
              <a:t>Does a country’s industrialization level predict its political democracy in 1960?</a:t>
            </a:r>
            <a:endParaRPr sz="2000" b="1">
              <a:latin typeface="Helvetica Neue"/>
              <a:ea typeface="Helvetica Neue"/>
              <a:cs typeface="Helvetica Neue"/>
              <a:sym typeface="Helvetica Neue"/>
            </a:endParaRPr>
          </a:p>
          <a:p>
            <a:pPr marL="0" lvl="0" indent="0" algn="l" rtl="0">
              <a:lnSpc>
                <a:spcPct val="115000"/>
              </a:lnSpc>
              <a:spcBef>
                <a:spcPts val="800"/>
              </a:spcBef>
              <a:spcAft>
                <a:spcPts val="0"/>
              </a:spcAft>
              <a:buNone/>
            </a:pPr>
            <a:endParaRPr sz="2000" b="1">
              <a:latin typeface="Helvetica Neue"/>
              <a:ea typeface="Helvetica Neue"/>
              <a:cs typeface="Helvetica Neue"/>
              <a:sym typeface="Helvetica Neue"/>
            </a:endParaRPr>
          </a:p>
          <a:p>
            <a:pPr marL="457200" lvl="0" indent="-355600" algn="l" rtl="0">
              <a:lnSpc>
                <a:spcPct val="115000"/>
              </a:lnSpc>
              <a:spcBef>
                <a:spcPts val="800"/>
              </a:spcBef>
              <a:spcAft>
                <a:spcPts val="0"/>
              </a:spcAft>
              <a:buSzPts val="2000"/>
              <a:buFont typeface="Helvetica Neue"/>
              <a:buAutoNum type="arabicPeriod"/>
            </a:pPr>
            <a:r>
              <a:rPr lang="en" sz="2000" b="1">
                <a:latin typeface="Helvetica Neue"/>
                <a:ea typeface="Helvetica Neue"/>
                <a:cs typeface="Helvetica Neue"/>
                <a:sym typeface="Helvetica Neue"/>
              </a:rPr>
              <a:t>Do political democracy and industrialization in 1960 predict its political democracy in 1965?</a:t>
            </a:r>
            <a:endParaRPr sz="2000" b="1">
              <a:latin typeface="Helvetica Neue"/>
              <a:ea typeface="Helvetica Neue"/>
              <a:cs typeface="Helvetica Neue"/>
              <a:sym typeface="Helvetica Neue"/>
            </a:endParaRPr>
          </a:p>
        </p:txBody>
      </p:sp>
      <p:sp>
        <p:nvSpPr>
          <p:cNvPr id="192" name="Google Shape;192;p27"/>
          <p:cNvSpPr txBox="1"/>
          <p:nvPr/>
        </p:nvSpPr>
        <p:spPr>
          <a:xfrm>
            <a:off x="80475" y="4664075"/>
            <a:ext cx="344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(Bollen, 1989; Rosseel &amp; Vidal, 2025)</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8"/>
          <p:cNvSpPr txBox="1">
            <a:spLocks noGrp="1"/>
          </p:cNvSpPr>
          <p:nvPr>
            <p:ph type="title"/>
          </p:nvPr>
        </p:nvSpPr>
        <p:spPr>
          <a:xfrm>
            <a:off x="311700" y="2150850"/>
            <a:ext cx="8520600" cy="8418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4500" b="1">
                <a:latin typeface="Helvetica Neue"/>
                <a:ea typeface="Helvetica Neue"/>
                <a:cs typeface="Helvetica Neue"/>
                <a:sym typeface="Helvetica Neue"/>
              </a:rPr>
              <a:t>Theory</a:t>
            </a:r>
            <a:endParaRPr sz="4500" b="1">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9"/>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Components of SEM</a:t>
            </a:r>
            <a:endParaRPr b="1">
              <a:latin typeface="Helvetica Neue"/>
              <a:ea typeface="Helvetica Neue"/>
              <a:cs typeface="Helvetica Neue"/>
              <a:sym typeface="Helvetica Neue"/>
            </a:endParaRPr>
          </a:p>
        </p:txBody>
      </p:sp>
      <p:sp>
        <p:nvSpPr>
          <p:cNvPr id="203" name="Google Shape;203;p29"/>
          <p:cNvSpPr txBox="1">
            <a:spLocks noGrp="1"/>
          </p:cNvSpPr>
          <p:nvPr>
            <p:ph type="body" idx="1"/>
          </p:nvPr>
        </p:nvSpPr>
        <p:spPr>
          <a:xfrm>
            <a:off x="514350" y="1151076"/>
            <a:ext cx="8115300" cy="35130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SzPts val="2000"/>
              <a:buFont typeface="Helvetica Neue"/>
              <a:buChar char="❖"/>
            </a:pPr>
            <a:r>
              <a:rPr lang="en" sz="2000" b="1">
                <a:latin typeface="Helvetica Neue"/>
                <a:ea typeface="Helvetica Neue"/>
                <a:cs typeface="Helvetica Neue"/>
                <a:sym typeface="Helvetica Neue"/>
              </a:rPr>
              <a:t>Observed</a:t>
            </a:r>
            <a:r>
              <a:rPr lang="en" sz="2000">
                <a:latin typeface="Helvetica Neue"/>
                <a:ea typeface="Helvetica Neue"/>
                <a:cs typeface="Helvetica Neue"/>
                <a:sym typeface="Helvetica Neue"/>
              </a:rPr>
              <a:t> variables vs. </a:t>
            </a:r>
            <a:r>
              <a:rPr lang="en" sz="2000" b="1">
                <a:latin typeface="Helvetica Neue"/>
                <a:ea typeface="Helvetica Neue"/>
                <a:cs typeface="Helvetica Neue"/>
                <a:sym typeface="Helvetica Neue"/>
              </a:rPr>
              <a:t>latent</a:t>
            </a:r>
            <a:r>
              <a:rPr lang="en" sz="2000">
                <a:latin typeface="Helvetica Neue"/>
                <a:ea typeface="Helvetica Neue"/>
                <a:cs typeface="Helvetica Neue"/>
                <a:sym typeface="Helvetica Neue"/>
              </a:rPr>
              <a:t> variables</a:t>
            </a:r>
            <a:endParaRPr sz="20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Observed</a:t>
            </a:r>
            <a:r>
              <a:rPr lang="en" sz="1800">
                <a:latin typeface="Helvetica Neue"/>
                <a:ea typeface="Helvetica Neue"/>
                <a:cs typeface="Helvetica Neue"/>
                <a:sym typeface="Helvetica Neue"/>
              </a:rPr>
              <a:t> → the variables you actually collected data for</a:t>
            </a:r>
            <a:endParaRPr sz="18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Latent</a:t>
            </a:r>
            <a:r>
              <a:rPr lang="en" sz="1800">
                <a:latin typeface="Helvetica Neue"/>
                <a:ea typeface="Helvetica Neue"/>
                <a:cs typeface="Helvetica Neue"/>
                <a:sym typeface="Helvetica Neue"/>
              </a:rPr>
              <a:t> → hypothetical constructs</a:t>
            </a:r>
            <a:endParaRPr sz="18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An </a:t>
            </a:r>
            <a:r>
              <a:rPr lang="en" sz="2000" b="1">
                <a:latin typeface="Helvetica Neue"/>
                <a:ea typeface="Helvetica Neue"/>
                <a:cs typeface="Helvetica Neue"/>
                <a:sym typeface="Helvetica Neue"/>
              </a:rPr>
              <a:t>indicator</a:t>
            </a:r>
            <a:r>
              <a:rPr lang="en" sz="2000">
                <a:latin typeface="Helvetica Neue"/>
                <a:ea typeface="Helvetica Neue"/>
                <a:cs typeface="Helvetica Neue"/>
                <a:sym typeface="Helvetica Neue"/>
              </a:rPr>
              <a:t> is an observed variable that reflects a latent variable</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A </a:t>
            </a:r>
            <a:r>
              <a:rPr lang="en" sz="2000" b="1">
                <a:latin typeface="Helvetica Neue"/>
                <a:ea typeface="Helvetica Neue"/>
                <a:cs typeface="Helvetica Neue"/>
                <a:sym typeface="Helvetica Neue"/>
              </a:rPr>
              <a:t>factor</a:t>
            </a:r>
            <a:r>
              <a:rPr lang="en" sz="2000">
                <a:latin typeface="Helvetica Neue"/>
                <a:ea typeface="Helvetica Neue"/>
                <a:cs typeface="Helvetica Neue"/>
                <a:sym typeface="Helvetica Neue"/>
              </a:rPr>
              <a:t> is the statistical version of a latent variable</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Two main structures:</a:t>
            </a:r>
            <a:endParaRPr sz="20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Covariance</a:t>
            </a:r>
            <a:r>
              <a:rPr lang="en" sz="1800">
                <a:latin typeface="Helvetica Neue"/>
                <a:ea typeface="Helvetica Neue"/>
                <a:cs typeface="Helvetica Neue"/>
                <a:sym typeface="Helvetica Neue"/>
              </a:rPr>
              <a:t> → Assesses variances/covariances; r</a:t>
            </a:r>
            <a:r>
              <a:rPr lang="en" sz="1800" baseline="-25000">
                <a:latin typeface="Helvetica Neue"/>
                <a:ea typeface="Helvetica Neue"/>
                <a:cs typeface="Helvetica Neue"/>
                <a:sym typeface="Helvetica Neue"/>
              </a:rPr>
              <a:t>XY</a:t>
            </a:r>
            <a:r>
              <a:rPr lang="en" sz="1800">
                <a:latin typeface="Helvetica Neue"/>
                <a:ea typeface="Helvetica Neue"/>
                <a:cs typeface="Helvetica Neue"/>
                <a:sym typeface="Helvetica Neue"/>
              </a:rPr>
              <a:t>*SD</a:t>
            </a:r>
            <a:r>
              <a:rPr lang="en" sz="1800" baseline="-25000">
                <a:latin typeface="Helvetica Neue"/>
                <a:ea typeface="Helvetica Neue"/>
                <a:cs typeface="Helvetica Neue"/>
                <a:sym typeface="Helvetica Neue"/>
              </a:rPr>
              <a:t>X</a:t>
            </a:r>
            <a:r>
              <a:rPr lang="en" sz="1800">
                <a:latin typeface="Helvetica Neue"/>
                <a:ea typeface="Helvetica Neue"/>
                <a:cs typeface="Helvetica Neue"/>
                <a:sym typeface="Helvetica Neue"/>
              </a:rPr>
              <a:t>*SD</a:t>
            </a:r>
            <a:r>
              <a:rPr lang="en" sz="1800" baseline="-25000">
                <a:latin typeface="Helvetica Neue"/>
                <a:ea typeface="Helvetica Neue"/>
                <a:cs typeface="Helvetica Neue"/>
                <a:sym typeface="Helvetica Neue"/>
              </a:rPr>
              <a:t>Y</a:t>
            </a:r>
            <a:endParaRPr sz="1800" baseline="-250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b="1">
                <a:latin typeface="Helvetica Neue"/>
                <a:ea typeface="Helvetica Neue"/>
                <a:cs typeface="Helvetica Neue"/>
                <a:sym typeface="Helvetica Neue"/>
              </a:rPr>
              <a:t>Mean</a:t>
            </a:r>
            <a:r>
              <a:rPr lang="en" sz="1800">
                <a:latin typeface="Helvetica Neue"/>
                <a:ea typeface="Helvetica Neue"/>
                <a:cs typeface="Helvetica Neue"/>
                <a:sym typeface="Helvetica Neue"/>
              </a:rPr>
              <a:t> → Estimation of means on latent variables</a:t>
            </a:r>
            <a:endParaRPr sz="18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b="1">
                <a:latin typeface="Helvetica Neue"/>
                <a:ea typeface="Helvetica Neue"/>
                <a:cs typeface="Helvetica Neue"/>
                <a:sym typeface="Helvetica Neue"/>
              </a:rPr>
              <a:t>Structural model </a:t>
            </a:r>
            <a:r>
              <a:rPr lang="en" sz="2000">
                <a:latin typeface="Helvetica Neue"/>
                <a:ea typeface="Helvetica Neue"/>
                <a:cs typeface="Helvetica Neue"/>
                <a:sym typeface="Helvetica Neue"/>
              </a:rPr>
              <a:t>→ relationship among the constructs themselves</a:t>
            </a:r>
            <a:endParaRPr sz="2000">
              <a:latin typeface="Helvetica Neue"/>
              <a:ea typeface="Helvetica Neue"/>
              <a:cs typeface="Helvetica Neue"/>
              <a:sym typeface="Helvetica Neue"/>
            </a:endParaRPr>
          </a:p>
        </p:txBody>
      </p:sp>
      <p:sp>
        <p:nvSpPr>
          <p:cNvPr id="204" name="Google Shape;204;p29"/>
          <p:cNvSpPr txBox="1"/>
          <p:nvPr/>
        </p:nvSpPr>
        <p:spPr>
          <a:xfrm>
            <a:off x="80475" y="4664075"/>
            <a:ext cx="344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(Kline, 2023; Rosseel &amp; Vidal, 2025)</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0"/>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Graphing SEM</a:t>
            </a:r>
            <a:endParaRPr b="1">
              <a:latin typeface="Helvetica Neue"/>
              <a:ea typeface="Helvetica Neue"/>
              <a:cs typeface="Helvetica Neue"/>
              <a:sym typeface="Helvetica Neue"/>
            </a:endParaRPr>
          </a:p>
        </p:txBody>
      </p:sp>
      <p:sp>
        <p:nvSpPr>
          <p:cNvPr id="210" name="Google Shape;210;p30"/>
          <p:cNvSpPr txBox="1"/>
          <p:nvPr/>
        </p:nvSpPr>
        <p:spPr>
          <a:xfrm>
            <a:off x="80475" y="4664075"/>
            <a:ext cx="344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(Castro-Schilo, 2021)</a:t>
            </a:r>
            <a:endParaRPr>
              <a:solidFill>
                <a:schemeClr val="dk1"/>
              </a:solidFill>
              <a:latin typeface="Helvetica Neue"/>
              <a:ea typeface="Helvetica Neue"/>
              <a:cs typeface="Helvetica Neue"/>
              <a:sym typeface="Helvetica Neue"/>
            </a:endParaRPr>
          </a:p>
        </p:txBody>
      </p:sp>
      <p:pic>
        <p:nvPicPr>
          <p:cNvPr id="211" name="Google Shape;211;p30" title="Screenshot 2026-04-04 at 6.12.29 PM.png"/>
          <p:cNvPicPr preferRelativeResize="0"/>
          <p:nvPr/>
        </p:nvPicPr>
        <p:blipFill rotWithShape="1">
          <a:blip r:embed="rId3">
            <a:alphaModFix/>
          </a:blip>
          <a:srcRect l="3623" t="3216" r="2019" b="21635"/>
          <a:stretch/>
        </p:blipFill>
        <p:spPr>
          <a:xfrm>
            <a:off x="1241712" y="1151075"/>
            <a:ext cx="6660574" cy="34577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1"/>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SEM Assumptions</a:t>
            </a:r>
            <a:endParaRPr b="1">
              <a:latin typeface="Helvetica Neue"/>
              <a:ea typeface="Helvetica Neue"/>
              <a:cs typeface="Helvetica Neue"/>
              <a:sym typeface="Helvetica Neue"/>
            </a:endParaRPr>
          </a:p>
        </p:txBody>
      </p:sp>
      <p:sp>
        <p:nvSpPr>
          <p:cNvPr id="217" name="Google Shape;217;p31"/>
          <p:cNvSpPr txBox="1">
            <a:spLocks noGrp="1"/>
          </p:cNvSpPr>
          <p:nvPr>
            <p:ph type="body" idx="1"/>
          </p:nvPr>
        </p:nvSpPr>
        <p:spPr>
          <a:xfrm>
            <a:off x="514350" y="1151076"/>
            <a:ext cx="8115300" cy="35130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Multivariate normality</a:t>
            </a:r>
            <a:endParaRPr sz="2000">
              <a:solidFill>
                <a:srgbClr val="000000"/>
              </a:solidFill>
              <a:latin typeface="Helvetica Neue"/>
              <a:ea typeface="Helvetica Neue"/>
              <a:cs typeface="Helvetica Neue"/>
              <a:sym typeface="Helvetica Neue"/>
            </a:endParaRPr>
          </a:p>
          <a:p>
            <a:pPr marL="457200" lvl="0" indent="-355600" algn="l" rtl="0">
              <a:lnSpc>
                <a:spcPct val="115000"/>
              </a:lnSpc>
              <a:spcBef>
                <a:spcPts val="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Linearity</a:t>
            </a:r>
            <a:endParaRPr sz="2000">
              <a:solidFill>
                <a:srgbClr val="000000"/>
              </a:solidFill>
              <a:latin typeface="Helvetica Neue"/>
              <a:ea typeface="Helvetica Neue"/>
              <a:cs typeface="Helvetica Neue"/>
              <a:sym typeface="Helvetica Neue"/>
            </a:endParaRPr>
          </a:p>
          <a:p>
            <a:pPr marL="457200" lvl="0" indent="-355600" algn="l" rtl="0">
              <a:lnSpc>
                <a:spcPct val="115000"/>
              </a:lnSpc>
              <a:spcBef>
                <a:spcPts val="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No perfect multicollinearity</a:t>
            </a:r>
            <a:endParaRPr sz="2000">
              <a:solidFill>
                <a:srgbClr val="000000"/>
              </a:solidFill>
              <a:latin typeface="Helvetica Neue"/>
              <a:ea typeface="Helvetica Neue"/>
              <a:cs typeface="Helvetica Neue"/>
              <a:sym typeface="Helvetica Neue"/>
            </a:endParaRPr>
          </a:p>
          <a:p>
            <a:pPr marL="457200" lvl="0" indent="-355600" algn="l" rtl="0">
              <a:lnSpc>
                <a:spcPct val="115000"/>
              </a:lnSpc>
              <a:spcBef>
                <a:spcPts val="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No systematic missing data</a:t>
            </a:r>
            <a:endParaRPr sz="2000">
              <a:solidFill>
                <a:srgbClr val="000000"/>
              </a:solidFill>
              <a:latin typeface="Helvetica Neue"/>
              <a:ea typeface="Helvetica Neue"/>
              <a:cs typeface="Helvetica Neue"/>
              <a:sym typeface="Helvetica Neue"/>
            </a:endParaRPr>
          </a:p>
          <a:p>
            <a:pPr marL="457200" lvl="0" indent="-355600" algn="l" rtl="0">
              <a:lnSpc>
                <a:spcPct val="115000"/>
              </a:lnSpc>
              <a:spcBef>
                <a:spcPts val="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Sufficiently large sample size</a:t>
            </a:r>
            <a:endParaRPr sz="2000">
              <a:solidFill>
                <a:srgbClr val="000000"/>
              </a:solidFill>
              <a:latin typeface="Helvetica Neue"/>
              <a:ea typeface="Helvetica Neue"/>
              <a:cs typeface="Helvetica Neue"/>
              <a:sym typeface="Helvetica Neue"/>
            </a:endParaRPr>
          </a:p>
          <a:p>
            <a:pPr marL="914400" lvl="1" indent="-342900" algn="l" rtl="0">
              <a:lnSpc>
                <a:spcPct val="115000"/>
              </a:lnSpc>
              <a:spcBef>
                <a:spcPts val="0"/>
              </a:spcBef>
              <a:spcAft>
                <a:spcPts val="0"/>
              </a:spcAft>
              <a:buClr>
                <a:srgbClr val="000000"/>
              </a:buClr>
              <a:buSzPts val="1800"/>
              <a:buFont typeface="Helvetica Neue"/>
              <a:buChar char="➢"/>
            </a:pPr>
            <a:r>
              <a:rPr lang="en" sz="1800" b="1">
                <a:solidFill>
                  <a:srgbClr val="000000"/>
                </a:solidFill>
                <a:latin typeface="Helvetica Neue"/>
                <a:ea typeface="Helvetica Neue"/>
                <a:cs typeface="Helvetica Neue"/>
                <a:sym typeface="Helvetica Neue"/>
              </a:rPr>
              <a:t>N:q rule</a:t>
            </a:r>
            <a:r>
              <a:rPr lang="en" sz="1800">
                <a:solidFill>
                  <a:srgbClr val="000000"/>
                </a:solidFill>
                <a:latin typeface="Helvetica Neue"/>
                <a:ea typeface="Helvetica Neue"/>
                <a:cs typeface="Helvetica Neue"/>
                <a:sym typeface="Helvetica Neue"/>
              </a:rPr>
              <a:t> → Sample size/model parameters ratio; 20:1</a:t>
            </a:r>
            <a:endParaRPr sz="1800">
              <a:solidFill>
                <a:srgbClr val="000000"/>
              </a:solidFill>
              <a:latin typeface="Helvetica Neue"/>
              <a:ea typeface="Helvetica Neue"/>
              <a:cs typeface="Helvetica Neue"/>
              <a:sym typeface="Helvetica Neue"/>
            </a:endParaRPr>
          </a:p>
          <a:p>
            <a:pPr marL="457200" lvl="0" indent="-355600" algn="l" rtl="0">
              <a:lnSpc>
                <a:spcPct val="115000"/>
              </a:lnSpc>
              <a:spcBef>
                <a:spcPts val="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Correct model specification</a:t>
            </a:r>
            <a:endParaRPr sz="2000">
              <a:solidFill>
                <a:srgbClr val="000000"/>
              </a:solidFill>
              <a:latin typeface="Helvetica Neue"/>
              <a:ea typeface="Helvetica Neue"/>
              <a:cs typeface="Helvetica Neue"/>
              <a:sym typeface="Helvetica Neue"/>
            </a:endParaRPr>
          </a:p>
          <a:p>
            <a:pPr marL="914400" lvl="1" indent="-342900" algn="l" rtl="0">
              <a:lnSpc>
                <a:spcPct val="115000"/>
              </a:lnSpc>
              <a:spcBef>
                <a:spcPts val="0"/>
              </a:spcBef>
              <a:spcAft>
                <a:spcPts val="0"/>
              </a:spcAft>
              <a:buClr>
                <a:srgbClr val="000000"/>
              </a:buClr>
              <a:buSzPts val="1800"/>
              <a:buFont typeface="Helvetica Neue"/>
              <a:buChar char="➢"/>
            </a:pPr>
            <a:r>
              <a:rPr lang="en" sz="1800" b="1">
                <a:solidFill>
                  <a:srgbClr val="000000"/>
                </a:solidFill>
                <a:latin typeface="Helvetica Neue"/>
                <a:ea typeface="Helvetica Neue"/>
                <a:cs typeface="Helvetica Neue"/>
                <a:sym typeface="Helvetica Neue"/>
              </a:rPr>
              <a:t>Specification error</a:t>
            </a:r>
            <a:r>
              <a:rPr lang="en" sz="1800">
                <a:solidFill>
                  <a:srgbClr val="000000"/>
                </a:solidFill>
                <a:latin typeface="Helvetica Neue"/>
                <a:ea typeface="Helvetica Neue"/>
                <a:cs typeface="Helvetica Neue"/>
                <a:sym typeface="Helvetica Neue"/>
              </a:rPr>
              <a:t> → omission of relevant variables</a:t>
            </a:r>
            <a:endParaRPr sz="1800">
              <a:solidFill>
                <a:srgbClr val="000000"/>
              </a:solidFill>
              <a:latin typeface="Helvetica Neue"/>
              <a:ea typeface="Helvetica Neue"/>
              <a:cs typeface="Helvetica Neue"/>
              <a:sym typeface="Helvetica Neue"/>
            </a:endParaRPr>
          </a:p>
          <a:p>
            <a:pPr marL="457200" lvl="0" indent="-355600" algn="l" rtl="0">
              <a:lnSpc>
                <a:spcPct val="115000"/>
              </a:lnSpc>
              <a:spcBef>
                <a:spcPts val="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Independence of observations</a:t>
            </a:r>
            <a:endParaRPr sz="2000">
              <a:solidFill>
                <a:srgbClr val="000000"/>
              </a:solidFill>
              <a:latin typeface="Helvetica Neue"/>
              <a:ea typeface="Helvetica Neue"/>
              <a:cs typeface="Helvetica Neue"/>
              <a:sym typeface="Helvetica Neue"/>
            </a:endParaRPr>
          </a:p>
          <a:p>
            <a:pPr marL="457200" lvl="0" indent="-355600" algn="l" rtl="0">
              <a:lnSpc>
                <a:spcPct val="115000"/>
              </a:lnSpc>
              <a:spcBef>
                <a:spcPts val="0"/>
              </a:spcBef>
              <a:spcAft>
                <a:spcPts val="0"/>
              </a:spcAft>
              <a:buClr>
                <a:srgbClr val="000000"/>
              </a:buClr>
              <a:buSzPts val="2000"/>
              <a:buFont typeface="Helvetica Neue"/>
              <a:buChar char="❖"/>
            </a:pPr>
            <a:r>
              <a:rPr lang="en" sz="2000">
                <a:solidFill>
                  <a:srgbClr val="000000"/>
                </a:solidFill>
                <a:latin typeface="Helvetica Neue"/>
                <a:ea typeface="Helvetica Neue"/>
                <a:cs typeface="Helvetica Neue"/>
                <a:sym typeface="Helvetica Neue"/>
              </a:rPr>
              <a:t>No extreme outliers</a:t>
            </a:r>
            <a:endParaRPr sz="2000">
              <a:solidFill>
                <a:srgbClr val="000000"/>
              </a:solidFill>
              <a:latin typeface="Helvetica Neue"/>
              <a:ea typeface="Helvetica Neue"/>
              <a:cs typeface="Helvetica Neue"/>
              <a:sym typeface="Helvetica Neue"/>
            </a:endParaRPr>
          </a:p>
        </p:txBody>
      </p:sp>
      <p:sp>
        <p:nvSpPr>
          <p:cNvPr id="218" name="Google Shape;218;p31"/>
          <p:cNvSpPr txBox="1"/>
          <p:nvPr/>
        </p:nvSpPr>
        <p:spPr>
          <a:xfrm>
            <a:off x="80475" y="4664075"/>
            <a:ext cx="344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(Kaplan, 2001; Kline, 2023)</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2"/>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Strengths &amp; Weaknesses</a:t>
            </a:r>
            <a:endParaRPr b="1">
              <a:latin typeface="Helvetica Neue"/>
              <a:ea typeface="Helvetica Neue"/>
              <a:cs typeface="Helvetica Neue"/>
              <a:sym typeface="Helvetica Neue"/>
            </a:endParaRPr>
          </a:p>
        </p:txBody>
      </p:sp>
      <p:sp>
        <p:nvSpPr>
          <p:cNvPr id="224" name="Google Shape;224;p32"/>
          <p:cNvSpPr txBox="1">
            <a:spLocks noGrp="1"/>
          </p:cNvSpPr>
          <p:nvPr>
            <p:ph type="body" idx="1"/>
          </p:nvPr>
        </p:nvSpPr>
        <p:spPr>
          <a:xfrm>
            <a:off x="514350" y="1750456"/>
            <a:ext cx="3849900" cy="28776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SzPts val="2000"/>
              <a:buFont typeface="Helvetica Neue"/>
              <a:buChar char="❖"/>
            </a:pPr>
            <a:r>
              <a:rPr lang="en" sz="2000">
                <a:latin typeface="Helvetica Neue"/>
                <a:ea typeface="Helvetica Neue"/>
                <a:cs typeface="Helvetica Neue"/>
                <a:sym typeface="Helvetica Neue"/>
              </a:rPr>
              <a:t>Distinguishes between observed vs. latent variables</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Address abstract questions</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Exploratory and confirmatory analyses</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Extremely powerful</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Comprehensive and complex analyses</a:t>
            </a:r>
            <a:endParaRPr sz="2000">
              <a:latin typeface="Helvetica Neue"/>
              <a:ea typeface="Helvetica Neue"/>
              <a:cs typeface="Helvetica Neue"/>
              <a:sym typeface="Helvetica Neue"/>
            </a:endParaRPr>
          </a:p>
        </p:txBody>
      </p:sp>
      <p:sp>
        <p:nvSpPr>
          <p:cNvPr id="225" name="Google Shape;225;p32"/>
          <p:cNvSpPr txBox="1">
            <a:spLocks noGrp="1"/>
          </p:cNvSpPr>
          <p:nvPr>
            <p:ph type="body" idx="1"/>
          </p:nvPr>
        </p:nvSpPr>
        <p:spPr>
          <a:xfrm>
            <a:off x="4779900" y="1750456"/>
            <a:ext cx="3849900" cy="28776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SzPts val="2000"/>
              <a:buFont typeface="Helvetica Neue"/>
              <a:buChar char="❖"/>
            </a:pPr>
            <a:r>
              <a:rPr lang="en" sz="2000">
                <a:latin typeface="Helvetica Neue"/>
                <a:ea typeface="Helvetica Neue"/>
                <a:cs typeface="Helvetica Neue"/>
                <a:sym typeface="Helvetica Neue"/>
              </a:rPr>
              <a:t>Super complicated</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Requires large samples</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Easy to misinterpret</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Goodness-of-fit tests can be misleading</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Inappropriate for nonlinear data</a:t>
            </a:r>
            <a:endParaRPr sz="20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a:latin typeface="Helvetica Neue"/>
                <a:ea typeface="Helvetica Neue"/>
                <a:cs typeface="Helvetica Neue"/>
                <a:sym typeface="Helvetica Neue"/>
              </a:rPr>
              <a:t>Still developing</a:t>
            </a:r>
            <a:endParaRPr sz="2000">
              <a:latin typeface="Helvetica Neue"/>
              <a:ea typeface="Helvetica Neue"/>
              <a:cs typeface="Helvetica Neue"/>
              <a:sym typeface="Helvetica Neue"/>
            </a:endParaRPr>
          </a:p>
        </p:txBody>
      </p:sp>
      <p:sp>
        <p:nvSpPr>
          <p:cNvPr id="226" name="Google Shape;226;p32"/>
          <p:cNvSpPr txBox="1">
            <a:spLocks noGrp="1"/>
          </p:cNvSpPr>
          <p:nvPr>
            <p:ph type="body" idx="1"/>
          </p:nvPr>
        </p:nvSpPr>
        <p:spPr>
          <a:xfrm>
            <a:off x="1367550" y="1247025"/>
            <a:ext cx="2143500" cy="539400"/>
          </a:xfrm>
          <a:prstGeom prst="rect">
            <a:avLst/>
          </a:prstGeom>
        </p:spPr>
        <p:txBody>
          <a:bodyPr spcFirstLastPara="1" wrap="square" lIns="68575" tIns="34275" rIns="68575" bIns="34275" anchor="ctr" anchorCtr="0">
            <a:normAutofit/>
          </a:bodyPr>
          <a:lstStyle/>
          <a:p>
            <a:pPr marL="0" lvl="0" indent="0" algn="ctr" rtl="0">
              <a:spcBef>
                <a:spcPts val="800"/>
              </a:spcBef>
              <a:spcAft>
                <a:spcPts val="0"/>
              </a:spcAft>
              <a:buNone/>
            </a:pPr>
            <a:r>
              <a:rPr lang="en" sz="2500" b="1">
                <a:latin typeface="Helvetica Neue"/>
                <a:ea typeface="Helvetica Neue"/>
                <a:cs typeface="Helvetica Neue"/>
                <a:sym typeface="Helvetica Neue"/>
              </a:rPr>
              <a:t>Strengths</a:t>
            </a:r>
            <a:endParaRPr sz="2500" b="1">
              <a:latin typeface="Helvetica Neue"/>
              <a:ea typeface="Helvetica Neue"/>
              <a:cs typeface="Helvetica Neue"/>
              <a:sym typeface="Helvetica Neue"/>
            </a:endParaRPr>
          </a:p>
        </p:txBody>
      </p:sp>
      <p:sp>
        <p:nvSpPr>
          <p:cNvPr id="227" name="Google Shape;227;p32"/>
          <p:cNvSpPr txBox="1">
            <a:spLocks noGrp="1"/>
          </p:cNvSpPr>
          <p:nvPr>
            <p:ph type="body" idx="1"/>
          </p:nvPr>
        </p:nvSpPr>
        <p:spPr>
          <a:xfrm>
            <a:off x="5633100" y="1247025"/>
            <a:ext cx="2143500" cy="539400"/>
          </a:xfrm>
          <a:prstGeom prst="rect">
            <a:avLst/>
          </a:prstGeom>
        </p:spPr>
        <p:txBody>
          <a:bodyPr spcFirstLastPara="1" wrap="square" lIns="68575" tIns="34275" rIns="68575" bIns="34275" anchor="ctr" anchorCtr="0">
            <a:normAutofit/>
          </a:bodyPr>
          <a:lstStyle/>
          <a:p>
            <a:pPr marL="0" lvl="0" indent="0" algn="ctr" rtl="0">
              <a:spcBef>
                <a:spcPts val="800"/>
              </a:spcBef>
              <a:spcAft>
                <a:spcPts val="0"/>
              </a:spcAft>
              <a:buNone/>
            </a:pPr>
            <a:r>
              <a:rPr lang="en" sz="2500" b="1">
                <a:latin typeface="Helvetica Neue"/>
                <a:ea typeface="Helvetica Neue"/>
                <a:cs typeface="Helvetica Neue"/>
                <a:sym typeface="Helvetica Neue"/>
              </a:rPr>
              <a:t>Weaknesses</a:t>
            </a:r>
            <a:endParaRPr sz="2500" b="1">
              <a:latin typeface="Helvetica Neue"/>
              <a:ea typeface="Helvetica Neue"/>
              <a:cs typeface="Helvetica Neue"/>
              <a:sym typeface="Helvetica Neue"/>
            </a:endParaRPr>
          </a:p>
        </p:txBody>
      </p:sp>
      <p:sp>
        <p:nvSpPr>
          <p:cNvPr id="228" name="Google Shape;228;p32"/>
          <p:cNvSpPr txBox="1"/>
          <p:nvPr/>
        </p:nvSpPr>
        <p:spPr>
          <a:xfrm>
            <a:off x="80475" y="4664075"/>
            <a:ext cx="344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(Kline, 2023; Tomarken &amp; Waller, 2005)</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5">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5">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5">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5">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3"/>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When Will I Ever Use This?</a:t>
            </a:r>
            <a:endParaRPr b="1">
              <a:latin typeface="Helvetica Neue"/>
              <a:ea typeface="Helvetica Neue"/>
              <a:cs typeface="Helvetica Neue"/>
              <a:sym typeface="Helvetica Neue"/>
            </a:endParaRPr>
          </a:p>
        </p:txBody>
      </p:sp>
      <p:sp>
        <p:nvSpPr>
          <p:cNvPr id="234" name="Google Shape;234;p33"/>
          <p:cNvSpPr txBox="1">
            <a:spLocks noGrp="1"/>
          </p:cNvSpPr>
          <p:nvPr>
            <p:ph type="body" idx="1"/>
          </p:nvPr>
        </p:nvSpPr>
        <p:spPr>
          <a:xfrm>
            <a:off x="514350" y="1151076"/>
            <a:ext cx="8115300" cy="3513000"/>
          </a:xfrm>
          <a:prstGeom prst="rect">
            <a:avLst/>
          </a:prstGeom>
        </p:spPr>
        <p:txBody>
          <a:bodyPr spcFirstLastPara="1" wrap="square" lIns="68575" tIns="34275" rIns="68575" bIns="34275" anchor="t" anchorCtr="0">
            <a:normAutofit/>
          </a:bodyPr>
          <a:lstStyle/>
          <a:p>
            <a:pPr marL="457200" lvl="0" indent="-355600" algn="l" rtl="0">
              <a:lnSpc>
                <a:spcPct val="115000"/>
              </a:lnSpc>
              <a:spcBef>
                <a:spcPts val="800"/>
              </a:spcBef>
              <a:spcAft>
                <a:spcPts val="0"/>
              </a:spcAft>
              <a:buSzPts val="2000"/>
              <a:buFont typeface="Helvetica Neue"/>
              <a:buChar char="❖"/>
            </a:pPr>
            <a:r>
              <a:rPr lang="en" sz="2000" b="1">
                <a:latin typeface="Helvetica Neue"/>
                <a:ea typeface="Helvetica Neue"/>
                <a:cs typeface="Helvetica Neue"/>
                <a:sym typeface="Helvetica Neue"/>
              </a:rPr>
              <a:t>This is great for…</a:t>
            </a:r>
            <a:endParaRPr sz="2000" b="1">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Model variables that can’t be measured directly</a:t>
            </a:r>
            <a:endParaRPr sz="18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Model variables with measurement error</a:t>
            </a:r>
            <a:endParaRPr sz="18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Models where variables are both predictors/outcomes</a:t>
            </a:r>
            <a:endParaRPr sz="18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Testing theories/concepts</a:t>
            </a:r>
            <a:endParaRPr sz="18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Handling missing data</a:t>
            </a:r>
            <a:endParaRPr sz="1800">
              <a:latin typeface="Helvetica Neue"/>
              <a:ea typeface="Helvetica Neue"/>
              <a:cs typeface="Helvetica Neue"/>
              <a:sym typeface="Helvetica Neue"/>
            </a:endParaRPr>
          </a:p>
          <a:p>
            <a:pPr marL="457200" lvl="0" indent="-355600" algn="l" rtl="0">
              <a:lnSpc>
                <a:spcPct val="115000"/>
              </a:lnSpc>
              <a:spcBef>
                <a:spcPts val="0"/>
              </a:spcBef>
              <a:spcAft>
                <a:spcPts val="0"/>
              </a:spcAft>
              <a:buSzPts val="2000"/>
              <a:buFont typeface="Helvetica Neue"/>
              <a:buChar char="❖"/>
            </a:pPr>
            <a:r>
              <a:rPr lang="en" sz="2000" b="1">
                <a:latin typeface="Helvetica Neue"/>
                <a:ea typeface="Helvetica Neue"/>
                <a:cs typeface="Helvetica Neue"/>
                <a:sym typeface="Helvetica Neue"/>
              </a:rPr>
              <a:t>Potential alternatives:</a:t>
            </a:r>
            <a:endParaRPr sz="2000" b="1">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Factor score path analysis for small samples </a:t>
            </a:r>
            <a:r>
              <a:rPr lang="en" sz="1200">
                <a:latin typeface="Helvetica Neue"/>
                <a:ea typeface="Helvetica Neue"/>
                <a:cs typeface="Helvetica Neue"/>
                <a:sym typeface="Helvetica Neue"/>
              </a:rPr>
              <a:t>(Devlieger &amp; Rosseel, 2017)</a:t>
            </a:r>
            <a:endParaRPr sz="1200">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Multilevel modeling for nested data </a:t>
            </a:r>
            <a:r>
              <a:rPr lang="en" sz="1200">
                <a:latin typeface="Helvetica Neue"/>
                <a:ea typeface="Helvetica Neue"/>
                <a:cs typeface="Helvetica Neue"/>
                <a:sym typeface="Helvetica Neue"/>
              </a:rPr>
              <a:t>(Mehta &amp; Neale, 2005)</a:t>
            </a:r>
            <a:endParaRPr sz="1200">
              <a:latin typeface="Helvetica Neue"/>
              <a:ea typeface="Helvetica Neue"/>
              <a:cs typeface="Helvetica Neue"/>
              <a:sym typeface="Helvetica Neue"/>
            </a:endParaRPr>
          </a:p>
        </p:txBody>
      </p:sp>
      <p:sp>
        <p:nvSpPr>
          <p:cNvPr id="235" name="Google Shape;235;p33"/>
          <p:cNvSpPr txBox="1"/>
          <p:nvPr/>
        </p:nvSpPr>
        <p:spPr>
          <a:xfrm>
            <a:off x="80475" y="4664075"/>
            <a:ext cx="344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a:solidFill>
                  <a:schemeClr val="dk1"/>
                </a:solidFill>
                <a:latin typeface="Helvetica Neue"/>
                <a:ea typeface="Helvetica Neue"/>
                <a:cs typeface="Helvetica Neue"/>
                <a:sym typeface="Helvetica Neue"/>
              </a:rPr>
              <a:t>(Castro-Schilo, 2021; Kline, 2023)</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4"/>
          <p:cNvSpPr txBox="1">
            <a:spLocks noGrp="1"/>
          </p:cNvSpPr>
          <p:nvPr>
            <p:ph type="title"/>
          </p:nvPr>
        </p:nvSpPr>
        <p:spPr>
          <a:xfrm>
            <a:off x="311700" y="2150850"/>
            <a:ext cx="8520600" cy="8418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4500" b="1">
                <a:latin typeface="Helvetica Neue"/>
                <a:ea typeface="Helvetica Neue"/>
                <a:cs typeface="Helvetica Neue"/>
                <a:sym typeface="Helvetica Neue"/>
              </a:rPr>
              <a:t>R Demonstration</a:t>
            </a:r>
            <a:endParaRPr sz="4500" b="1">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5"/>
          <p:cNvSpPr txBox="1">
            <a:spLocks noGrp="1"/>
          </p:cNvSpPr>
          <p:nvPr>
            <p:ph type="title"/>
          </p:nvPr>
        </p:nvSpPr>
        <p:spPr>
          <a:xfrm>
            <a:off x="311700" y="2150850"/>
            <a:ext cx="8520600" cy="8418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4500" b="1">
                <a:latin typeface="Helvetica Neue"/>
                <a:ea typeface="Helvetica Neue"/>
                <a:cs typeface="Helvetica Neue"/>
                <a:sym typeface="Helvetica Neue"/>
              </a:rPr>
              <a:t>Interpretation</a:t>
            </a:r>
            <a:endParaRPr sz="4500" b="1">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6"/>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Interpretation: Model Fit</a:t>
            </a:r>
            <a:endParaRPr b="1">
              <a:latin typeface="Helvetica Neue"/>
              <a:ea typeface="Helvetica Neue"/>
              <a:cs typeface="Helvetica Neue"/>
              <a:sym typeface="Helvetica Neue"/>
            </a:endParaRPr>
          </a:p>
        </p:txBody>
      </p:sp>
      <p:pic>
        <p:nvPicPr>
          <p:cNvPr id="251" name="Google Shape;251;p36" title="Screenshot 2026-04-07 at 1.28.32 PM.png"/>
          <p:cNvPicPr preferRelativeResize="0"/>
          <p:nvPr/>
        </p:nvPicPr>
        <p:blipFill rotWithShape="1">
          <a:blip r:embed="rId3">
            <a:alphaModFix/>
          </a:blip>
          <a:srcRect b="28755"/>
          <a:stretch/>
        </p:blipFill>
        <p:spPr>
          <a:xfrm>
            <a:off x="131058" y="892625"/>
            <a:ext cx="3567517" cy="3560249"/>
          </a:xfrm>
          <a:prstGeom prst="rect">
            <a:avLst/>
          </a:prstGeom>
          <a:noFill/>
          <a:ln>
            <a:noFill/>
          </a:ln>
        </p:spPr>
      </p:pic>
      <p:pic>
        <p:nvPicPr>
          <p:cNvPr id="252" name="Google Shape;252;p36" title="Screenshot 2026-04-07 at 1.48.19 PM.png"/>
          <p:cNvPicPr preferRelativeResize="0"/>
          <p:nvPr/>
        </p:nvPicPr>
        <p:blipFill>
          <a:blip r:embed="rId4">
            <a:alphaModFix/>
          </a:blip>
          <a:stretch>
            <a:fillRect/>
          </a:stretch>
        </p:blipFill>
        <p:spPr>
          <a:xfrm>
            <a:off x="3824432" y="1239589"/>
            <a:ext cx="5285775" cy="2123964"/>
          </a:xfrm>
          <a:prstGeom prst="rect">
            <a:avLst/>
          </a:prstGeom>
          <a:noFill/>
          <a:ln>
            <a:noFill/>
          </a:ln>
        </p:spPr>
      </p:pic>
      <p:sp>
        <p:nvSpPr>
          <p:cNvPr id="253" name="Google Shape;253;p36"/>
          <p:cNvSpPr/>
          <p:nvPr/>
        </p:nvSpPr>
        <p:spPr>
          <a:xfrm>
            <a:off x="86284" y="1880232"/>
            <a:ext cx="3504900" cy="842700"/>
          </a:xfrm>
          <a:prstGeom prst="rect">
            <a:avLst/>
          </a:prstGeom>
          <a:noFill/>
          <a:ln w="19050" cap="flat" cmpd="sng">
            <a:solidFill>
              <a:srgbClr val="FF0000"/>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54" name="Google Shape;254;p36"/>
          <p:cNvSpPr/>
          <p:nvPr/>
        </p:nvSpPr>
        <p:spPr>
          <a:xfrm>
            <a:off x="86275" y="3554269"/>
            <a:ext cx="3504900" cy="898500"/>
          </a:xfrm>
          <a:prstGeom prst="rect">
            <a:avLst/>
          </a:prstGeom>
          <a:noFill/>
          <a:ln w="19850" cap="flat" cmpd="sng">
            <a:solidFill>
              <a:srgbClr val="FF9900"/>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55" name="Google Shape;255;p36"/>
          <p:cNvSpPr/>
          <p:nvPr/>
        </p:nvSpPr>
        <p:spPr>
          <a:xfrm>
            <a:off x="3824425" y="1524000"/>
            <a:ext cx="2186400" cy="704700"/>
          </a:xfrm>
          <a:prstGeom prst="rect">
            <a:avLst/>
          </a:prstGeom>
          <a:noFill/>
          <a:ln w="19850" cap="flat" cmpd="sng">
            <a:solidFill>
              <a:srgbClr val="FF0000"/>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56" name="Google Shape;256;p36"/>
          <p:cNvSpPr/>
          <p:nvPr/>
        </p:nvSpPr>
        <p:spPr>
          <a:xfrm>
            <a:off x="3842920" y="2601625"/>
            <a:ext cx="549600" cy="704700"/>
          </a:xfrm>
          <a:prstGeom prst="rect">
            <a:avLst/>
          </a:prstGeom>
          <a:noFill/>
          <a:ln w="19850" cap="flat" cmpd="sng">
            <a:solidFill>
              <a:srgbClr val="FF9900"/>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57" name="Google Shape;257;p36"/>
          <p:cNvSpPr/>
          <p:nvPr/>
        </p:nvSpPr>
        <p:spPr>
          <a:xfrm>
            <a:off x="6279470" y="2601625"/>
            <a:ext cx="549600" cy="704700"/>
          </a:xfrm>
          <a:prstGeom prst="rect">
            <a:avLst/>
          </a:prstGeom>
          <a:noFill/>
          <a:ln w="19850" cap="flat" cmpd="sng">
            <a:solidFill>
              <a:srgbClr val="FF9900"/>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58" name="Google Shape;258;p36"/>
          <p:cNvSpPr txBox="1"/>
          <p:nvPr/>
        </p:nvSpPr>
        <p:spPr>
          <a:xfrm>
            <a:off x="3903950" y="3498775"/>
            <a:ext cx="5126700" cy="1100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sz="1600">
                <a:solidFill>
                  <a:schemeClr val="dk1"/>
                </a:solidFill>
                <a:latin typeface="Helvetica Neue"/>
                <a:ea typeface="Helvetica Neue"/>
                <a:cs typeface="Helvetica Neue"/>
                <a:sym typeface="Helvetica Neue"/>
              </a:rPr>
              <a:t>Our </a:t>
            </a:r>
            <a:r>
              <a:rPr lang="en" sz="1600" b="1">
                <a:solidFill>
                  <a:schemeClr val="dk1"/>
                </a:solidFill>
                <a:latin typeface="Helvetica Neue"/>
                <a:ea typeface="Helvetica Neue"/>
                <a:cs typeface="Helvetica Neue"/>
                <a:sym typeface="Helvetica Neue"/>
              </a:rPr>
              <a:t>Chi-square</a:t>
            </a:r>
            <a:r>
              <a:rPr lang="en" sz="1600">
                <a:solidFill>
                  <a:schemeClr val="dk1"/>
                </a:solidFill>
                <a:latin typeface="Helvetica Neue"/>
                <a:ea typeface="Helvetica Neue"/>
                <a:cs typeface="Helvetica Neue"/>
                <a:sym typeface="Helvetica Neue"/>
              </a:rPr>
              <a:t> is insignificant, p = .374</a:t>
            </a:r>
            <a:endParaRPr sz="1600">
              <a:solidFill>
                <a:schemeClr val="dk1"/>
              </a:solidFill>
              <a:latin typeface="Helvetica Neue"/>
              <a:ea typeface="Helvetica Neue"/>
              <a:cs typeface="Helvetica Neue"/>
              <a:sym typeface="Helvetica Neue"/>
            </a:endParaRPr>
          </a:p>
          <a:p>
            <a:pPr marL="0" lvl="0" indent="0" algn="l" rtl="0">
              <a:lnSpc>
                <a:spcPct val="115000"/>
              </a:lnSpc>
              <a:spcBef>
                <a:spcPts val="800"/>
              </a:spcBef>
              <a:spcAft>
                <a:spcPts val="0"/>
              </a:spcAft>
              <a:buNone/>
            </a:pPr>
            <a:r>
              <a:rPr lang="en" sz="1600">
                <a:solidFill>
                  <a:schemeClr val="dk1"/>
                </a:solidFill>
                <a:latin typeface="Helvetica Neue"/>
                <a:ea typeface="Helvetica Neue"/>
                <a:cs typeface="Helvetica Neue"/>
                <a:sym typeface="Helvetica Neue"/>
              </a:rPr>
              <a:t>Our </a:t>
            </a:r>
            <a:r>
              <a:rPr lang="en" sz="1600" b="1">
                <a:solidFill>
                  <a:schemeClr val="dk1"/>
                </a:solidFill>
                <a:latin typeface="Helvetica Neue"/>
                <a:ea typeface="Helvetica Neue"/>
                <a:cs typeface="Helvetica Neue"/>
                <a:sym typeface="Helvetica Neue"/>
              </a:rPr>
              <a:t>CFI</a:t>
            </a:r>
            <a:r>
              <a:rPr lang="en" sz="1600">
                <a:solidFill>
                  <a:schemeClr val="dk1"/>
                </a:solidFill>
                <a:latin typeface="Helvetica Neue"/>
                <a:ea typeface="Helvetica Neue"/>
                <a:cs typeface="Helvetica Neue"/>
                <a:sym typeface="Helvetica Neue"/>
              </a:rPr>
              <a:t> is .997, which means our model closely fits the data.</a:t>
            </a:r>
            <a:endParaRPr sz="1600">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Interpretation: Model Fit</a:t>
            </a:r>
            <a:endParaRPr b="1">
              <a:latin typeface="Helvetica Neue"/>
              <a:ea typeface="Helvetica Neue"/>
              <a:cs typeface="Helvetica Neue"/>
              <a:sym typeface="Helvetica Neue"/>
            </a:endParaRPr>
          </a:p>
        </p:txBody>
      </p:sp>
      <p:pic>
        <p:nvPicPr>
          <p:cNvPr id="264" name="Google Shape;264;p37" title="Screenshot 2026-04-07 at 2.05.52 PM.png"/>
          <p:cNvPicPr preferRelativeResize="0"/>
          <p:nvPr/>
        </p:nvPicPr>
        <p:blipFill rotWithShape="1">
          <a:blip r:embed="rId3">
            <a:alphaModFix/>
          </a:blip>
          <a:srcRect l="1264"/>
          <a:stretch/>
        </p:blipFill>
        <p:spPr>
          <a:xfrm>
            <a:off x="27838" y="1239600"/>
            <a:ext cx="3822774" cy="3051599"/>
          </a:xfrm>
          <a:prstGeom prst="rect">
            <a:avLst/>
          </a:prstGeom>
          <a:noFill/>
          <a:ln>
            <a:noFill/>
          </a:ln>
        </p:spPr>
      </p:pic>
      <p:sp>
        <p:nvSpPr>
          <p:cNvPr id="265" name="Google Shape;265;p37"/>
          <p:cNvSpPr/>
          <p:nvPr/>
        </p:nvSpPr>
        <p:spPr>
          <a:xfrm>
            <a:off x="75484" y="1239600"/>
            <a:ext cx="3727500" cy="577800"/>
          </a:xfrm>
          <a:prstGeom prst="rect">
            <a:avLst/>
          </a:prstGeom>
          <a:noFill/>
          <a:ln w="19850" cap="flat" cmpd="sng">
            <a:solidFill>
              <a:srgbClr val="6AA84F"/>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pic>
        <p:nvPicPr>
          <p:cNvPr id="266" name="Google Shape;266;p37" title="Screenshot 2026-04-07 at 1.48.19 PM.png"/>
          <p:cNvPicPr preferRelativeResize="0"/>
          <p:nvPr/>
        </p:nvPicPr>
        <p:blipFill>
          <a:blip r:embed="rId4">
            <a:alphaModFix/>
          </a:blip>
          <a:stretch>
            <a:fillRect/>
          </a:stretch>
        </p:blipFill>
        <p:spPr>
          <a:xfrm>
            <a:off x="3824432" y="1239589"/>
            <a:ext cx="5285775" cy="2123964"/>
          </a:xfrm>
          <a:prstGeom prst="rect">
            <a:avLst/>
          </a:prstGeom>
          <a:noFill/>
          <a:ln>
            <a:noFill/>
          </a:ln>
        </p:spPr>
      </p:pic>
      <p:sp>
        <p:nvSpPr>
          <p:cNvPr id="267" name="Google Shape;267;p37"/>
          <p:cNvSpPr/>
          <p:nvPr/>
        </p:nvSpPr>
        <p:spPr>
          <a:xfrm>
            <a:off x="75475" y="2094825"/>
            <a:ext cx="3727500" cy="1632000"/>
          </a:xfrm>
          <a:prstGeom prst="rect">
            <a:avLst/>
          </a:prstGeom>
          <a:noFill/>
          <a:ln w="19850" cap="flat" cmpd="sng">
            <a:solidFill>
              <a:srgbClr val="3C78D8"/>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68" name="Google Shape;268;p37"/>
          <p:cNvSpPr/>
          <p:nvPr/>
        </p:nvSpPr>
        <p:spPr>
          <a:xfrm>
            <a:off x="75475" y="3967250"/>
            <a:ext cx="3727500" cy="379200"/>
          </a:xfrm>
          <a:prstGeom prst="rect">
            <a:avLst/>
          </a:prstGeom>
          <a:noFill/>
          <a:ln w="19850" cap="flat" cmpd="sng">
            <a:solidFill>
              <a:schemeClr val="accent3"/>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69" name="Google Shape;269;p37"/>
          <p:cNvSpPr txBox="1"/>
          <p:nvPr/>
        </p:nvSpPr>
        <p:spPr>
          <a:xfrm>
            <a:off x="3903950" y="3498775"/>
            <a:ext cx="51267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sz="1600">
                <a:solidFill>
                  <a:schemeClr val="dk1"/>
                </a:solidFill>
                <a:latin typeface="Helvetica Neue"/>
                <a:ea typeface="Helvetica Neue"/>
                <a:cs typeface="Helvetica Neue"/>
                <a:sym typeface="Helvetica Neue"/>
              </a:rPr>
              <a:t>Other </a:t>
            </a:r>
            <a:r>
              <a:rPr lang="en" sz="1600" b="1">
                <a:solidFill>
                  <a:schemeClr val="dk1"/>
                </a:solidFill>
                <a:latin typeface="Helvetica Neue"/>
                <a:ea typeface="Helvetica Neue"/>
                <a:cs typeface="Helvetica Neue"/>
                <a:sym typeface="Helvetica Neue"/>
              </a:rPr>
              <a:t>fit indices</a:t>
            </a:r>
            <a:r>
              <a:rPr lang="en" sz="1600">
                <a:solidFill>
                  <a:schemeClr val="dk1"/>
                </a:solidFill>
                <a:latin typeface="Helvetica Neue"/>
                <a:ea typeface="Helvetica Neue"/>
                <a:cs typeface="Helvetica Neue"/>
                <a:sym typeface="Helvetica Neue"/>
              </a:rPr>
              <a:t> indicate that our model fits the data!</a:t>
            </a:r>
            <a:endParaRPr sz="1600">
              <a:solidFill>
                <a:schemeClr val="dk1"/>
              </a:solidFill>
              <a:latin typeface="Helvetica Neue"/>
              <a:ea typeface="Helvetica Neue"/>
              <a:cs typeface="Helvetica Neue"/>
              <a:sym typeface="Helvetica Neue"/>
            </a:endParaRPr>
          </a:p>
        </p:txBody>
      </p:sp>
      <p:sp>
        <p:nvSpPr>
          <p:cNvPr id="270" name="Google Shape;270;p37"/>
          <p:cNvSpPr/>
          <p:nvPr/>
        </p:nvSpPr>
        <p:spPr>
          <a:xfrm>
            <a:off x="7509025" y="2580375"/>
            <a:ext cx="1521600" cy="660900"/>
          </a:xfrm>
          <a:prstGeom prst="rect">
            <a:avLst/>
          </a:prstGeom>
          <a:noFill/>
          <a:ln w="19850" cap="flat" cmpd="sng">
            <a:solidFill>
              <a:srgbClr val="6AA84F"/>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71" name="Google Shape;271;p37"/>
          <p:cNvSpPr/>
          <p:nvPr/>
        </p:nvSpPr>
        <p:spPr>
          <a:xfrm>
            <a:off x="4406275" y="2580375"/>
            <a:ext cx="1743300" cy="660900"/>
          </a:xfrm>
          <a:prstGeom prst="rect">
            <a:avLst/>
          </a:prstGeom>
          <a:noFill/>
          <a:ln w="19850" cap="flat" cmpd="sng">
            <a:solidFill>
              <a:srgbClr val="3C78D8"/>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
        <p:nvSpPr>
          <p:cNvPr id="272" name="Google Shape;272;p37"/>
          <p:cNvSpPr/>
          <p:nvPr/>
        </p:nvSpPr>
        <p:spPr>
          <a:xfrm>
            <a:off x="6852450" y="2580375"/>
            <a:ext cx="587100" cy="660900"/>
          </a:xfrm>
          <a:prstGeom prst="rect">
            <a:avLst/>
          </a:prstGeom>
          <a:noFill/>
          <a:ln w="19850" cap="flat" cmpd="sng">
            <a:solidFill>
              <a:schemeClr val="accent3"/>
            </a:solidFill>
            <a:prstDash val="solid"/>
            <a:round/>
            <a:headEnd type="none" w="sm" len="sm"/>
            <a:tailEnd type="none" w="sm" len="sm"/>
          </a:ln>
        </p:spPr>
        <p:txBody>
          <a:bodyPr spcFirstLastPara="1" wrap="square" lIns="95250" tIns="95250" rIns="95250" bIns="95250" anchor="ctr" anchorCtr="0">
            <a:noAutofit/>
          </a:bodyPr>
          <a:lstStyle/>
          <a:p>
            <a:pPr marL="0" lvl="0" indent="0" algn="ctr" rtl="0">
              <a:spcBef>
                <a:spcPts val="0"/>
              </a:spcBef>
              <a:spcAft>
                <a:spcPts val="0"/>
              </a:spcAft>
              <a:buNone/>
            </a:pPr>
            <a:endParaRPr sz="1459">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8"/>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Model Visualization</a:t>
            </a:r>
            <a:endParaRPr b="1">
              <a:latin typeface="Helvetica Neue"/>
              <a:ea typeface="Helvetica Neue"/>
              <a:cs typeface="Helvetica Neue"/>
              <a:sym typeface="Helvetica Neue"/>
            </a:endParaRPr>
          </a:p>
        </p:txBody>
      </p:sp>
      <p:pic>
        <p:nvPicPr>
          <p:cNvPr id="278" name="Google Shape;278;p38" title="Screenshot 2026-04-07 at 1.21.46 PM.png"/>
          <p:cNvPicPr preferRelativeResize="0"/>
          <p:nvPr/>
        </p:nvPicPr>
        <p:blipFill rotWithShape="1">
          <a:blip r:embed="rId3">
            <a:alphaModFix/>
          </a:blip>
          <a:srcRect b="2372"/>
          <a:stretch/>
        </p:blipFill>
        <p:spPr>
          <a:xfrm>
            <a:off x="1149263" y="1151075"/>
            <a:ext cx="6845486" cy="3716650"/>
          </a:xfrm>
          <a:prstGeom prst="rect">
            <a:avLst/>
          </a:prstGeom>
          <a:noFill/>
          <a:ln>
            <a:noFill/>
          </a:ln>
        </p:spPr>
      </p:pic>
      <p:sp>
        <p:nvSpPr>
          <p:cNvPr id="279" name="Google Shape;279;p38"/>
          <p:cNvSpPr/>
          <p:nvPr/>
        </p:nvSpPr>
        <p:spPr>
          <a:xfrm>
            <a:off x="1326300" y="1078300"/>
            <a:ext cx="1347900" cy="3838800"/>
          </a:xfrm>
          <a:prstGeom prst="rect">
            <a:avLst/>
          </a:prstGeom>
          <a:noFill/>
          <a:ln w="38100"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80" name="Google Shape;280;p38"/>
          <p:cNvSpPr/>
          <p:nvPr/>
        </p:nvSpPr>
        <p:spPr>
          <a:xfrm>
            <a:off x="6740800" y="2179150"/>
            <a:ext cx="1152300" cy="1660500"/>
          </a:xfrm>
          <a:prstGeom prst="rect">
            <a:avLst/>
          </a:prstGeom>
          <a:noFill/>
          <a:ln w="38100"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81" name="Google Shape;281;p38"/>
          <p:cNvSpPr/>
          <p:nvPr/>
        </p:nvSpPr>
        <p:spPr>
          <a:xfrm>
            <a:off x="3123163" y="1296100"/>
            <a:ext cx="2897700" cy="3426600"/>
          </a:xfrm>
          <a:prstGeom prst="rect">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9"/>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Model Visualization</a:t>
            </a:r>
            <a:endParaRPr b="1">
              <a:latin typeface="Helvetica Neue"/>
              <a:ea typeface="Helvetica Neue"/>
              <a:cs typeface="Helvetica Neue"/>
              <a:sym typeface="Helvetica Neue"/>
            </a:endParaRPr>
          </a:p>
        </p:txBody>
      </p:sp>
      <p:pic>
        <p:nvPicPr>
          <p:cNvPr id="287" name="Google Shape;287;p39" title="Screenshot 2026-04-07 at 1.21.46 PM.png"/>
          <p:cNvPicPr preferRelativeResize="0"/>
          <p:nvPr/>
        </p:nvPicPr>
        <p:blipFill rotWithShape="1">
          <a:blip r:embed="rId3">
            <a:alphaModFix/>
          </a:blip>
          <a:srcRect b="2372"/>
          <a:stretch/>
        </p:blipFill>
        <p:spPr>
          <a:xfrm>
            <a:off x="1149263" y="1151075"/>
            <a:ext cx="6845486" cy="3716650"/>
          </a:xfrm>
          <a:prstGeom prst="rect">
            <a:avLst/>
          </a:prstGeom>
          <a:noFill/>
          <a:ln>
            <a:noFill/>
          </a:ln>
        </p:spPr>
      </p:pic>
      <p:sp>
        <p:nvSpPr>
          <p:cNvPr id="288" name="Google Shape;288;p39"/>
          <p:cNvSpPr/>
          <p:nvPr/>
        </p:nvSpPr>
        <p:spPr>
          <a:xfrm>
            <a:off x="1246900" y="1115025"/>
            <a:ext cx="3237300" cy="18822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89" name="Google Shape;289;p39"/>
          <p:cNvSpPr/>
          <p:nvPr/>
        </p:nvSpPr>
        <p:spPr>
          <a:xfrm>
            <a:off x="4643950" y="2194075"/>
            <a:ext cx="3237300" cy="16365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90" name="Google Shape;290;p39"/>
          <p:cNvSpPr/>
          <p:nvPr/>
        </p:nvSpPr>
        <p:spPr>
          <a:xfrm>
            <a:off x="1246900" y="3081304"/>
            <a:ext cx="3237300" cy="1810500"/>
          </a:xfrm>
          <a:prstGeom prst="rect">
            <a:avLst/>
          </a:prstGeom>
          <a:noFill/>
          <a:ln w="3810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0"/>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Interpretation: Factor Loadings</a:t>
            </a:r>
            <a:endParaRPr b="1">
              <a:latin typeface="Helvetica Neue"/>
              <a:ea typeface="Helvetica Neue"/>
              <a:cs typeface="Helvetica Neue"/>
              <a:sym typeface="Helvetica Neue"/>
            </a:endParaRPr>
          </a:p>
        </p:txBody>
      </p:sp>
      <p:pic>
        <p:nvPicPr>
          <p:cNvPr id="296" name="Google Shape;296;p40" title="Screenshot 2026-04-07 at 1.30.07 PM.png"/>
          <p:cNvPicPr preferRelativeResize="0"/>
          <p:nvPr/>
        </p:nvPicPr>
        <p:blipFill rotWithShape="1">
          <a:blip r:embed="rId3">
            <a:alphaModFix/>
          </a:blip>
          <a:srcRect r="2534" b="56874"/>
          <a:stretch/>
        </p:blipFill>
        <p:spPr>
          <a:xfrm>
            <a:off x="177800" y="1788375"/>
            <a:ext cx="4130224" cy="2062600"/>
          </a:xfrm>
          <a:prstGeom prst="rect">
            <a:avLst/>
          </a:prstGeom>
          <a:noFill/>
          <a:ln>
            <a:noFill/>
          </a:ln>
        </p:spPr>
      </p:pic>
      <p:pic>
        <p:nvPicPr>
          <p:cNvPr id="297" name="Google Shape;297;p40" title="Screenshot 2026-04-07 at 2.23.28 PM.png"/>
          <p:cNvPicPr preferRelativeResize="0"/>
          <p:nvPr/>
        </p:nvPicPr>
        <p:blipFill>
          <a:blip r:embed="rId4">
            <a:alphaModFix/>
          </a:blip>
          <a:stretch>
            <a:fillRect/>
          </a:stretch>
        </p:blipFill>
        <p:spPr>
          <a:xfrm>
            <a:off x="4460424" y="1303477"/>
            <a:ext cx="4531174" cy="3200977"/>
          </a:xfrm>
          <a:prstGeom prst="rect">
            <a:avLst/>
          </a:prstGeom>
          <a:noFill/>
          <a:ln>
            <a:noFill/>
          </a:ln>
        </p:spPr>
      </p:pic>
      <p:sp>
        <p:nvSpPr>
          <p:cNvPr id="298" name="Google Shape;298;p40"/>
          <p:cNvSpPr/>
          <p:nvPr/>
        </p:nvSpPr>
        <p:spPr>
          <a:xfrm>
            <a:off x="259725" y="2058750"/>
            <a:ext cx="3960000" cy="4710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299" name="Google Shape;299;p40"/>
          <p:cNvSpPr/>
          <p:nvPr/>
        </p:nvSpPr>
        <p:spPr>
          <a:xfrm>
            <a:off x="4460425" y="1914150"/>
            <a:ext cx="4531200" cy="830700"/>
          </a:xfrm>
          <a:prstGeom prst="rect">
            <a:avLst/>
          </a:prstGeom>
          <a:noFill/>
          <a:ln w="190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00" name="Google Shape;300;p40"/>
          <p:cNvSpPr/>
          <p:nvPr/>
        </p:nvSpPr>
        <p:spPr>
          <a:xfrm>
            <a:off x="259725" y="2539992"/>
            <a:ext cx="3960000" cy="632100"/>
          </a:xfrm>
          <a:prstGeom prst="rect">
            <a:avLst/>
          </a:prstGeom>
          <a:noFill/>
          <a:ln w="190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01" name="Google Shape;301;p40"/>
          <p:cNvSpPr/>
          <p:nvPr/>
        </p:nvSpPr>
        <p:spPr>
          <a:xfrm>
            <a:off x="4460425" y="2794808"/>
            <a:ext cx="4531200" cy="830700"/>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Century Gothic"/>
              <a:ea typeface="Century Gothic"/>
              <a:cs typeface="Century Gothic"/>
              <a:sym typeface="Century Gothic"/>
            </a:endParaRPr>
          </a:p>
        </p:txBody>
      </p:sp>
      <p:sp>
        <p:nvSpPr>
          <p:cNvPr id="302" name="Google Shape;302;p40"/>
          <p:cNvSpPr/>
          <p:nvPr/>
        </p:nvSpPr>
        <p:spPr>
          <a:xfrm>
            <a:off x="259725" y="3182342"/>
            <a:ext cx="3960000" cy="632100"/>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03" name="Google Shape;303;p40"/>
          <p:cNvSpPr/>
          <p:nvPr/>
        </p:nvSpPr>
        <p:spPr>
          <a:xfrm>
            <a:off x="4460425" y="3675450"/>
            <a:ext cx="4531200" cy="6321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04" name="Google Shape;304;p40"/>
          <p:cNvSpPr txBox="1"/>
          <p:nvPr/>
        </p:nvSpPr>
        <p:spPr>
          <a:xfrm>
            <a:off x="174675" y="3960700"/>
            <a:ext cx="41301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800"/>
              </a:spcBef>
              <a:spcAft>
                <a:spcPts val="0"/>
              </a:spcAft>
              <a:buNone/>
            </a:pPr>
            <a:r>
              <a:rPr lang="en" sz="1600" b="1">
                <a:solidFill>
                  <a:schemeClr val="dk1"/>
                </a:solidFill>
                <a:latin typeface="Helvetica Neue"/>
                <a:ea typeface="Helvetica Neue"/>
                <a:cs typeface="Helvetica Neue"/>
                <a:sym typeface="Helvetica Neue"/>
              </a:rPr>
              <a:t>Our factor loadings</a:t>
            </a:r>
            <a:r>
              <a:rPr lang="en" sz="1600">
                <a:solidFill>
                  <a:schemeClr val="dk1"/>
                </a:solidFill>
                <a:latin typeface="Helvetica Neue"/>
                <a:ea typeface="Helvetica Neue"/>
                <a:cs typeface="Helvetica Neue"/>
                <a:sym typeface="Helvetica Neue"/>
              </a:rPr>
              <a:t> are all strong and significant, so they do a good job indicating our latent variables</a:t>
            </a:r>
            <a:endParaRPr sz="1600">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1"/>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Interpretation: Regressions</a:t>
            </a:r>
            <a:endParaRPr b="1">
              <a:latin typeface="Helvetica Neue"/>
              <a:ea typeface="Helvetica Neue"/>
              <a:cs typeface="Helvetica Neue"/>
              <a:sym typeface="Helvetica Neue"/>
            </a:endParaRPr>
          </a:p>
        </p:txBody>
      </p:sp>
      <p:pic>
        <p:nvPicPr>
          <p:cNvPr id="310" name="Google Shape;310;p41" title="Screenshot 2026-04-07 at 1.30.07 PM.png"/>
          <p:cNvPicPr preferRelativeResize="0"/>
          <p:nvPr/>
        </p:nvPicPr>
        <p:blipFill rotWithShape="1">
          <a:blip r:embed="rId3">
            <a:alphaModFix/>
          </a:blip>
          <a:srcRect t="42697" r="2534" b="36614"/>
          <a:stretch/>
        </p:blipFill>
        <p:spPr>
          <a:xfrm>
            <a:off x="144404" y="1429512"/>
            <a:ext cx="4998545" cy="1197531"/>
          </a:xfrm>
          <a:prstGeom prst="rect">
            <a:avLst/>
          </a:prstGeom>
          <a:noFill/>
          <a:ln>
            <a:noFill/>
          </a:ln>
        </p:spPr>
      </p:pic>
      <p:pic>
        <p:nvPicPr>
          <p:cNvPr id="311" name="Google Shape;311;p41" title="Screenshot 2026-04-07 at 1.49.52 PM.png"/>
          <p:cNvPicPr preferRelativeResize="0"/>
          <p:nvPr/>
        </p:nvPicPr>
        <p:blipFill rotWithShape="1">
          <a:blip r:embed="rId4">
            <a:alphaModFix/>
          </a:blip>
          <a:srcRect l="1720"/>
          <a:stretch/>
        </p:blipFill>
        <p:spPr>
          <a:xfrm>
            <a:off x="106100" y="2848909"/>
            <a:ext cx="5075151" cy="1740378"/>
          </a:xfrm>
          <a:prstGeom prst="rect">
            <a:avLst/>
          </a:prstGeom>
          <a:noFill/>
          <a:ln>
            <a:noFill/>
          </a:ln>
        </p:spPr>
      </p:pic>
      <p:pic>
        <p:nvPicPr>
          <p:cNvPr id="312" name="Google Shape;312;p41" title="Screenshot 2026-04-07 at 1.21.46 PM.png"/>
          <p:cNvPicPr preferRelativeResize="0"/>
          <p:nvPr/>
        </p:nvPicPr>
        <p:blipFill rotWithShape="1">
          <a:blip r:embed="rId5">
            <a:alphaModFix/>
          </a:blip>
          <a:srcRect l="29222" r="28069" b="2372"/>
          <a:stretch/>
        </p:blipFill>
        <p:spPr>
          <a:xfrm>
            <a:off x="5542375" y="1151075"/>
            <a:ext cx="2923551" cy="3716650"/>
          </a:xfrm>
          <a:prstGeom prst="rect">
            <a:avLst/>
          </a:prstGeom>
          <a:noFill/>
          <a:ln>
            <a:noFill/>
          </a:ln>
        </p:spPr>
      </p:pic>
      <p:sp>
        <p:nvSpPr>
          <p:cNvPr id="313" name="Google Shape;313;p41"/>
          <p:cNvSpPr/>
          <p:nvPr/>
        </p:nvSpPr>
        <p:spPr>
          <a:xfrm>
            <a:off x="5648750" y="1619500"/>
            <a:ext cx="1070100" cy="2779800"/>
          </a:xfrm>
          <a:prstGeom prst="rect">
            <a:avLst/>
          </a:prstGeom>
          <a:noFill/>
          <a:ln w="38100" cap="flat" cmpd="sng">
            <a:solidFill>
              <a:srgbClr val="1CB8B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14" name="Google Shape;314;p41"/>
          <p:cNvSpPr/>
          <p:nvPr/>
        </p:nvSpPr>
        <p:spPr>
          <a:xfrm>
            <a:off x="106100" y="3881700"/>
            <a:ext cx="5117400" cy="215100"/>
          </a:xfrm>
          <a:prstGeom prst="rect">
            <a:avLst/>
          </a:prstGeom>
          <a:noFill/>
          <a:ln w="19050" cap="flat" cmpd="sng">
            <a:solidFill>
              <a:srgbClr val="1CB8B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15" name="Google Shape;315;p41"/>
          <p:cNvSpPr/>
          <p:nvPr/>
        </p:nvSpPr>
        <p:spPr>
          <a:xfrm>
            <a:off x="335900" y="2408850"/>
            <a:ext cx="4738200" cy="162900"/>
          </a:xfrm>
          <a:prstGeom prst="rect">
            <a:avLst/>
          </a:prstGeom>
          <a:noFill/>
          <a:ln w="19050" cap="flat" cmpd="sng">
            <a:solidFill>
              <a:srgbClr val="1CB8B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16" name="Google Shape;316;p41"/>
          <p:cNvSpPr/>
          <p:nvPr/>
        </p:nvSpPr>
        <p:spPr>
          <a:xfrm rot="7199637" flipH="1">
            <a:off x="6469149" y="1131060"/>
            <a:ext cx="1069996" cy="2881380"/>
          </a:xfrm>
          <a:prstGeom prst="rect">
            <a:avLst/>
          </a:prstGeom>
          <a:no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17" name="Google Shape;317;p41"/>
          <p:cNvSpPr/>
          <p:nvPr/>
        </p:nvSpPr>
        <p:spPr>
          <a:xfrm>
            <a:off x="274575" y="1791925"/>
            <a:ext cx="4799400" cy="3399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18" name="Google Shape;318;p41"/>
          <p:cNvSpPr/>
          <p:nvPr/>
        </p:nvSpPr>
        <p:spPr>
          <a:xfrm>
            <a:off x="106100" y="3611538"/>
            <a:ext cx="5117400" cy="2151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19" name="Google Shape;319;p41"/>
          <p:cNvSpPr/>
          <p:nvPr/>
        </p:nvSpPr>
        <p:spPr>
          <a:xfrm rot="3600363">
            <a:off x="6522524" y="2052785"/>
            <a:ext cx="1069996" cy="2881380"/>
          </a:xfrm>
          <a:prstGeom prst="rect">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20" name="Google Shape;320;p41"/>
          <p:cNvSpPr/>
          <p:nvPr/>
        </p:nvSpPr>
        <p:spPr>
          <a:xfrm>
            <a:off x="84975" y="4151850"/>
            <a:ext cx="5117400" cy="215100"/>
          </a:xfrm>
          <a:prstGeom prst="rect">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321" name="Google Shape;321;p41"/>
          <p:cNvSpPr/>
          <p:nvPr/>
        </p:nvSpPr>
        <p:spPr>
          <a:xfrm>
            <a:off x="335900" y="2227633"/>
            <a:ext cx="4738200" cy="162900"/>
          </a:xfrm>
          <a:prstGeom prst="rect">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2"/>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Model Visualization</a:t>
            </a:r>
            <a:endParaRPr b="1">
              <a:latin typeface="Helvetica Neue"/>
              <a:ea typeface="Helvetica Neue"/>
              <a:cs typeface="Helvetica Neue"/>
              <a:sym typeface="Helvetica Neue"/>
            </a:endParaRPr>
          </a:p>
        </p:txBody>
      </p:sp>
      <p:pic>
        <p:nvPicPr>
          <p:cNvPr id="327" name="Google Shape;327;p42" title="Screenshot 2026-04-07 at 1.21.46 PM.png"/>
          <p:cNvPicPr preferRelativeResize="0"/>
          <p:nvPr/>
        </p:nvPicPr>
        <p:blipFill rotWithShape="1">
          <a:blip r:embed="rId3">
            <a:alphaModFix/>
          </a:blip>
          <a:srcRect b="2372"/>
          <a:stretch/>
        </p:blipFill>
        <p:spPr>
          <a:xfrm>
            <a:off x="1149263" y="1151075"/>
            <a:ext cx="6845486" cy="3716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3"/>
          <p:cNvSpPr txBox="1">
            <a:spLocks noGrp="1"/>
          </p:cNvSpPr>
          <p:nvPr>
            <p:ph type="title"/>
          </p:nvPr>
        </p:nvSpPr>
        <p:spPr>
          <a:xfrm>
            <a:off x="2171700" y="573277"/>
            <a:ext cx="6458100" cy="5778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Reporting SEM Results</a:t>
            </a:r>
            <a:endParaRPr b="1">
              <a:latin typeface="Helvetica Neue"/>
              <a:ea typeface="Helvetica Neue"/>
              <a:cs typeface="Helvetica Neue"/>
              <a:sym typeface="Helvetica Neue"/>
            </a:endParaRPr>
          </a:p>
        </p:txBody>
      </p:sp>
      <p:sp>
        <p:nvSpPr>
          <p:cNvPr id="333" name="Google Shape;333;p43"/>
          <p:cNvSpPr txBox="1">
            <a:spLocks noGrp="1"/>
          </p:cNvSpPr>
          <p:nvPr>
            <p:ph type="body" idx="1"/>
          </p:nvPr>
        </p:nvSpPr>
        <p:spPr>
          <a:xfrm>
            <a:off x="514350" y="1252676"/>
            <a:ext cx="8115300" cy="3513000"/>
          </a:xfrm>
          <a:prstGeom prst="rect">
            <a:avLst/>
          </a:prstGeom>
        </p:spPr>
        <p:txBody>
          <a:bodyPr spcFirstLastPara="1" wrap="square" lIns="68575" tIns="34275" rIns="68575" bIns="34275" anchor="t" anchorCtr="0">
            <a:normAutofit/>
          </a:bodyPr>
          <a:lstStyle/>
          <a:p>
            <a:pPr marL="0" lvl="0" indent="0" algn="l" rtl="0">
              <a:lnSpc>
                <a:spcPct val="115000"/>
              </a:lnSpc>
              <a:spcBef>
                <a:spcPts val="800"/>
              </a:spcBef>
              <a:spcAft>
                <a:spcPts val="0"/>
              </a:spcAft>
              <a:buNone/>
            </a:pPr>
            <a:r>
              <a:rPr lang="en" sz="1600">
                <a:latin typeface="Times New Roman"/>
                <a:ea typeface="Times New Roman"/>
                <a:cs typeface="Times New Roman"/>
                <a:sym typeface="Times New Roman"/>
              </a:rPr>
              <a:t>The SEM model was evaluated and demonstrated a good fit to the data. The Chi-square test was not significant, χ</a:t>
            </a:r>
            <a:r>
              <a:rPr lang="en" sz="1600" baseline="30000">
                <a:latin typeface="Times New Roman"/>
                <a:ea typeface="Times New Roman"/>
                <a:cs typeface="Times New Roman"/>
                <a:sym typeface="Times New Roman"/>
              </a:rPr>
              <a:t>2</a:t>
            </a:r>
            <a:r>
              <a:rPr lang="en" sz="1600">
                <a:latin typeface="Times New Roman"/>
                <a:ea typeface="Times New Roman"/>
                <a:cs typeface="Times New Roman"/>
                <a:sym typeface="Times New Roman"/>
              </a:rPr>
              <a:t>(38) = 40.18, </a:t>
            </a:r>
            <a:r>
              <a:rPr lang="en" sz="1600" i="1">
                <a:latin typeface="Times New Roman"/>
                <a:ea typeface="Times New Roman"/>
                <a:cs typeface="Times New Roman"/>
                <a:sym typeface="Times New Roman"/>
              </a:rPr>
              <a:t>p</a:t>
            </a:r>
            <a:r>
              <a:rPr lang="en" sz="1600">
                <a:latin typeface="Times New Roman"/>
                <a:ea typeface="Times New Roman"/>
                <a:cs typeface="Times New Roman"/>
                <a:sym typeface="Times New Roman"/>
              </a:rPr>
              <a:t> = .374. The CFI was .997, which indicates the model fit the data. Analysis of the regression paths showed that a country’s industrialization level in 1960 significantly predicted its political democracy in 1960,  </a:t>
            </a:r>
            <a:r>
              <a:rPr lang="en" sz="1600" i="1">
                <a:latin typeface="Times New Roman"/>
                <a:ea typeface="Times New Roman"/>
                <a:cs typeface="Times New Roman"/>
                <a:sym typeface="Times New Roman"/>
              </a:rPr>
              <a:t>β</a:t>
            </a:r>
            <a:r>
              <a:rPr lang="en" sz="1600">
                <a:latin typeface="Times New Roman"/>
                <a:ea typeface="Times New Roman"/>
                <a:cs typeface="Times New Roman"/>
                <a:sym typeface="Times New Roman"/>
              </a:rPr>
              <a:t> = .448, SE = .111, </a:t>
            </a:r>
            <a:r>
              <a:rPr lang="en" sz="1600" i="1">
                <a:latin typeface="Times New Roman"/>
                <a:ea typeface="Times New Roman"/>
                <a:cs typeface="Times New Roman"/>
                <a:sym typeface="Times New Roman"/>
              </a:rPr>
              <a:t>p</a:t>
            </a:r>
            <a:r>
              <a:rPr lang="en" sz="1600">
                <a:latin typeface="Times New Roman"/>
                <a:ea typeface="Times New Roman"/>
                <a:cs typeface="Times New Roman"/>
                <a:sym typeface="Times New Roman"/>
              </a:rPr>
              <a:t> &lt; .001, indicating higher industrialization was associated with higher political democracy scores. </a:t>
            </a:r>
            <a:endParaRPr sz="160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 sz="1600">
                <a:latin typeface="Times New Roman"/>
                <a:ea typeface="Times New Roman"/>
                <a:cs typeface="Times New Roman"/>
                <a:sym typeface="Times New Roman"/>
              </a:rPr>
              <a:t>Moreover, a country’s political democracy in 1960 significantly predicted its political democracy in 1965, </a:t>
            </a:r>
            <a:r>
              <a:rPr lang="en" sz="1600" i="1">
                <a:latin typeface="Times New Roman"/>
                <a:ea typeface="Times New Roman"/>
                <a:cs typeface="Times New Roman"/>
                <a:sym typeface="Times New Roman"/>
              </a:rPr>
              <a:t>β</a:t>
            </a:r>
            <a:r>
              <a:rPr lang="en" sz="1600">
                <a:latin typeface="Times New Roman"/>
                <a:ea typeface="Times New Roman"/>
                <a:cs typeface="Times New Roman"/>
                <a:sym typeface="Times New Roman"/>
              </a:rPr>
              <a:t> = .884, SE = .050, </a:t>
            </a:r>
            <a:r>
              <a:rPr lang="en" sz="1600" i="1">
                <a:latin typeface="Times New Roman"/>
                <a:ea typeface="Times New Roman"/>
                <a:cs typeface="Times New Roman"/>
                <a:sym typeface="Times New Roman"/>
              </a:rPr>
              <a:t>p</a:t>
            </a:r>
            <a:r>
              <a:rPr lang="en" sz="1600">
                <a:latin typeface="Times New Roman"/>
                <a:ea typeface="Times New Roman"/>
                <a:cs typeface="Times New Roman"/>
                <a:sym typeface="Times New Roman"/>
              </a:rPr>
              <a:t> &lt; .001. Political democracy in 1965 was also significantly predicted by industrialization in 1960, </a:t>
            </a:r>
            <a:r>
              <a:rPr lang="en" sz="1600" i="1">
                <a:latin typeface="Times New Roman"/>
                <a:ea typeface="Times New Roman"/>
                <a:cs typeface="Times New Roman"/>
                <a:sym typeface="Times New Roman"/>
              </a:rPr>
              <a:t>β</a:t>
            </a:r>
            <a:r>
              <a:rPr lang="en" sz="1600">
                <a:latin typeface="Times New Roman"/>
                <a:ea typeface="Times New Roman"/>
                <a:cs typeface="Times New Roman"/>
                <a:sym typeface="Times New Roman"/>
              </a:rPr>
              <a:t> = .187, SE = .067, </a:t>
            </a:r>
            <a:r>
              <a:rPr lang="en" sz="1600" i="1">
                <a:latin typeface="Times New Roman"/>
                <a:ea typeface="Times New Roman"/>
                <a:cs typeface="Times New Roman"/>
                <a:sym typeface="Times New Roman"/>
              </a:rPr>
              <a:t>p</a:t>
            </a:r>
            <a:r>
              <a:rPr lang="en" sz="1600">
                <a:latin typeface="Times New Roman"/>
                <a:ea typeface="Times New Roman"/>
                <a:cs typeface="Times New Roman"/>
                <a:sym typeface="Times New Roman"/>
              </a:rPr>
              <a:t> = .005. These results indicate that political democracy level (1960) is associated with later democratic development (1965). Results also suggest that industrialization is generally associated with democratic development. </a:t>
            </a:r>
            <a:endParaRPr sz="160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6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6"/>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dirty="0">
                <a:latin typeface="Helvetica Neue"/>
                <a:ea typeface="Helvetica Neue"/>
                <a:cs typeface="Helvetica Neue"/>
                <a:sym typeface="Helvetica Neue"/>
              </a:rPr>
              <a:t>References</a:t>
            </a:r>
            <a:endParaRPr b="1" dirty="0">
              <a:latin typeface="Helvetica Neue"/>
              <a:ea typeface="Helvetica Neue"/>
              <a:cs typeface="Helvetica Neue"/>
              <a:sym typeface="Helvetica Neue"/>
            </a:endParaRPr>
          </a:p>
        </p:txBody>
      </p:sp>
      <p:sp>
        <p:nvSpPr>
          <p:cNvPr id="352" name="Google Shape;352;p46"/>
          <p:cNvSpPr txBox="1">
            <a:spLocks noGrp="1"/>
          </p:cNvSpPr>
          <p:nvPr>
            <p:ph type="body" idx="1"/>
          </p:nvPr>
        </p:nvSpPr>
        <p:spPr>
          <a:xfrm>
            <a:off x="311700" y="1017725"/>
            <a:ext cx="8520600" cy="3945900"/>
          </a:xfrm>
          <a:prstGeom prst="rect">
            <a:avLst/>
          </a:prstGeom>
        </p:spPr>
        <p:txBody>
          <a:bodyPr spcFirstLastPara="1" wrap="square" lIns="68575" tIns="34275" rIns="68575" bIns="34275" anchor="t" anchorCtr="0">
            <a:noAutofit/>
          </a:bodyPr>
          <a:lstStyle/>
          <a:p>
            <a:pPr marL="457200" lvl="0" indent="-457200" algn="l" rtl="0">
              <a:lnSpc>
                <a:spcPct val="115000"/>
              </a:lnSpc>
              <a:spcBef>
                <a:spcPts val="0"/>
              </a:spcBef>
              <a:spcAft>
                <a:spcPts val="0"/>
              </a:spcAft>
              <a:buNone/>
            </a:pPr>
            <a:r>
              <a:rPr lang="en" sz="1100" dirty="0">
                <a:solidFill>
                  <a:srgbClr val="000000"/>
                </a:solidFill>
                <a:highlight>
                  <a:srgbClr val="FFFFFF"/>
                </a:highlight>
                <a:latin typeface="Helvetica Neue"/>
                <a:ea typeface="Helvetica Neue"/>
                <a:cs typeface="Helvetica Neue"/>
                <a:sym typeface="Helvetica Neue"/>
              </a:rPr>
              <a:t>Beierlein, C., Kuntz, A., &amp; Davidov, E. (2016). Universalism, conservation and attitudes toward minority groups. </a:t>
            </a:r>
            <a:r>
              <a:rPr lang="en" sz="1100" i="1" dirty="0">
                <a:solidFill>
                  <a:srgbClr val="000000"/>
                </a:solidFill>
                <a:highlight>
                  <a:srgbClr val="FFFFFF"/>
                </a:highlight>
                <a:latin typeface="Helvetica Neue"/>
                <a:ea typeface="Helvetica Neue"/>
                <a:cs typeface="Helvetica Neue"/>
                <a:sym typeface="Helvetica Neue"/>
              </a:rPr>
              <a:t>Social Science Research</a:t>
            </a:r>
            <a:r>
              <a:rPr lang="en" sz="1100" dirty="0">
                <a:solidFill>
                  <a:srgbClr val="000000"/>
                </a:solidFill>
                <a:highlight>
                  <a:srgbClr val="FFFFFF"/>
                </a:highlight>
                <a:latin typeface="Helvetica Neue"/>
                <a:ea typeface="Helvetica Neue"/>
                <a:cs typeface="Helvetica Neue"/>
                <a:sym typeface="Helvetica Neue"/>
              </a:rPr>
              <a:t>, </a:t>
            </a:r>
            <a:r>
              <a:rPr lang="en" sz="1100" i="1" dirty="0">
                <a:solidFill>
                  <a:srgbClr val="000000"/>
                </a:solidFill>
                <a:highlight>
                  <a:srgbClr val="FFFFFF"/>
                </a:highlight>
                <a:latin typeface="Helvetica Neue"/>
                <a:ea typeface="Helvetica Neue"/>
                <a:cs typeface="Helvetica Neue"/>
                <a:sym typeface="Helvetica Neue"/>
              </a:rPr>
              <a:t>58</a:t>
            </a:r>
            <a:r>
              <a:rPr lang="en" sz="1100" dirty="0">
                <a:solidFill>
                  <a:srgbClr val="000000"/>
                </a:solidFill>
                <a:highlight>
                  <a:srgbClr val="FFFFFF"/>
                </a:highlight>
                <a:latin typeface="Helvetica Neue"/>
                <a:ea typeface="Helvetica Neue"/>
                <a:cs typeface="Helvetica Neue"/>
                <a:sym typeface="Helvetica Neue"/>
              </a:rPr>
              <a:t>, 68–79. </a:t>
            </a:r>
            <a:r>
              <a:rPr lang="en" sz="1100" u="sng" dirty="0">
                <a:solidFill>
                  <a:srgbClr val="000000"/>
                </a:solidFill>
                <a:highlight>
                  <a:srgbClr val="FFFFFF"/>
                </a:highlight>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https://doi.org/10.1016/j.ssresearch.2016.02.002</a:t>
            </a:r>
            <a:r>
              <a:rPr lang="en" sz="1100" dirty="0">
                <a:solidFill>
                  <a:srgbClr val="000000"/>
                </a:solidFill>
                <a:highlight>
                  <a:srgbClr val="FFFFFF"/>
                </a:highlight>
                <a:latin typeface="Helvetica Neue"/>
                <a:ea typeface="Helvetica Neue"/>
                <a:cs typeface="Helvetica Neue"/>
                <a:sym typeface="Helvetica Neue"/>
              </a:rPr>
              <a:t> </a:t>
            </a:r>
            <a:endParaRPr sz="1100" dirty="0">
              <a:solidFill>
                <a:srgbClr val="000000"/>
              </a:solidFill>
              <a:highlight>
                <a:srgbClr val="FFFFFF"/>
              </a:highlight>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solidFill>
                  <a:srgbClr val="000000"/>
                </a:solidFill>
                <a:latin typeface="Helvetica Neue"/>
                <a:ea typeface="Helvetica Neue"/>
                <a:cs typeface="Helvetica Neue"/>
                <a:sym typeface="Helvetica Neue"/>
              </a:rPr>
              <a:t>Bollen, K. A. (1989). </a:t>
            </a:r>
            <a:r>
              <a:rPr lang="en" sz="1100" i="1" dirty="0">
                <a:solidFill>
                  <a:srgbClr val="000000"/>
                </a:solidFill>
                <a:latin typeface="Helvetica Neue"/>
                <a:ea typeface="Helvetica Neue"/>
                <a:cs typeface="Helvetica Neue"/>
                <a:sym typeface="Helvetica Neue"/>
              </a:rPr>
              <a:t>Structural equations with latent variables</a:t>
            </a:r>
            <a:r>
              <a:rPr lang="en" sz="1100" dirty="0">
                <a:solidFill>
                  <a:srgbClr val="000000"/>
                </a:solidFill>
                <a:latin typeface="Helvetica Neue"/>
                <a:ea typeface="Helvetica Neue"/>
                <a:cs typeface="Helvetica Neue"/>
                <a:sym typeface="Helvetica Neue"/>
              </a:rPr>
              <a:t>. John Wiley &amp; Sons. </a:t>
            </a:r>
            <a:r>
              <a:rPr lang="en" sz="1100" u="sng" dirty="0">
                <a:solidFill>
                  <a:srgbClr val="000000"/>
                </a:solidFill>
                <a:latin typeface="Helvetica Neue"/>
                <a:ea typeface="Helvetica Neue"/>
                <a:cs typeface="Helvetica Neue"/>
                <a:sym typeface="Helvetica Neue"/>
                <a:hlinkClick r:id="rId4">
                  <a:extLst>
                    <a:ext uri="{A12FA001-AC4F-418D-AE19-62706E023703}">
                      <ahyp:hlinkClr xmlns:ahyp="http://schemas.microsoft.com/office/drawing/2018/hyperlinkcolor" val="tx"/>
                    </a:ext>
                  </a:extLst>
                </a:hlinkClick>
              </a:rPr>
              <a:t>https://doi.org/10.1002/9781118619179</a:t>
            </a:r>
            <a:r>
              <a:rPr lang="en" sz="1100" dirty="0">
                <a:solidFill>
                  <a:srgbClr val="000000"/>
                </a:solidFill>
                <a:latin typeface="Helvetica Neue"/>
                <a:ea typeface="Helvetica Neue"/>
                <a:cs typeface="Helvetica Neue"/>
                <a:sym typeface="Helvetica Neue"/>
              </a:rPr>
              <a:t> </a:t>
            </a:r>
            <a:endParaRPr sz="1100" dirty="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solidFill>
                  <a:srgbClr val="000000"/>
                </a:solidFill>
                <a:latin typeface="Helvetica Neue"/>
                <a:ea typeface="Helvetica Neue"/>
                <a:cs typeface="Helvetica Neue"/>
                <a:sym typeface="Helvetica Neue"/>
              </a:rPr>
              <a:t>Bollen, K. A., Fisher, Z., Lilly, A., Brehm, C., Luo, L., Martinez, A., &amp; Ye, A. (2022). Fifty year of structural equation modeling: A history of generalization, unification, and diffusion. </a:t>
            </a:r>
            <a:r>
              <a:rPr lang="en" sz="1100" i="1" dirty="0">
                <a:solidFill>
                  <a:srgbClr val="000000"/>
                </a:solidFill>
                <a:latin typeface="Helvetica Neue"/>
                <a:ea typeface="Helvetica Neue"/>
                <a:cs typeface="Helvetica Neue"/>
                <a:sym typeface="Helvetica Neue"/>
              </a:rPr>
              <a:t>Social Science Research</a:t>
            </a:r>
            <a:r>
              <a:rPr lang="en" sz="1100" dirty="0">
                <a:solidFill>
                  <a:srgbClr val="000000"/>
                </a:solidFill>
                <a:latin typeface="Helvetica Neue"/>
                <a:ea typeface="Helvetica Neue"/>
                <a:cs typeface="Helvetica Neue"/>
                <a:sym typeface="Helvetica Neue"/>
              </a:rPr>
              <a:t>, </a:t>
            </a:r>
            <a:r>
              <a:rPr lang="en" sz="1100" i="1" dirty="0">
                <a:solidFill>
                  <a:srgbClr val="000000"/>
                </a:solidFill>
                <a:latin typeface="Helvetica Neue"/>
                <a:ea typeface="Helvetica Neue"/>
                <a:cs typeface="Helvetica Neue"/>
                <a:sym typeface="Helvetica Neue"/>
              </a:rPr>
              <a:t>107</a:t>
            </a:r>
            <a:r>
              <a:rPr lang="en" sz="1100" dirty="0">
                <a:solidFill>
                  <a:srgbClr val="000000"/>
                </a:solidFill>
                <a:latin typeface="Helvetica Neue"/>
                <a:ea typeface="Helvetica Neue"/>
                <a:cs typeface="Helvetica Neue"/>
                <a:sym typeface="Helvetica Neue"/>
              </a:rPr>
              <a:t>, </a:t>
            </a:r>
            <a:r>
              <a:rPr lang="en" sz="1100" u="sng" dirty="0">
                <a:solidFill>
                  <a:srgbClr val="000000"/>
                </a:solidFill>
                <a:latin typeface="Helvetica Neue"/>
                <a:ea typeface="Helvetica Neue"/>
                <a:cs typeface="Helvetica Neue"/>
                <a:sym typeface="Helvetica Neue"/>
                <a:hlinkClick r:id="rId5">
                  <a:extLst>
                    <a:ext uri="{A12FA001-AC4F-418D-AE19-62706E023703}">
                      <ahyp:hlinkClr xmlns:ahyp="http://schemas.microsoft.com/office/drawing/2018/hyperlinkcolor" val="tx"/>
                    </a:ext>
                  </a:extLst>
                </a:hlinkClick>
              </a:rPr>
              <a:t>https://doi.org/10.1016/j.ssresearch.2022.102769</a:t>
            </a:r>
            <a:r>
              <a:rPr lang="en" sz="1100" dirty="0">
                <a:solidFill>
                  <a:srgbClr val="000000"/>
                </a:solidFill>
                <a:latin typeface="Helvetica Neue"/>
                <a:ea typeface="Helvetica Neue"/>
                <a:cs typeface="Helvetica Neue"/>
                <a:sym typeface="Helvetica Neue"/>
              </a:rPr>
              <a:t> </a:t>
            </a:r>
            <a:endParaRPr sz="1100" dirty="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solidFill>
                  <a:srgbClr val="000000"/>
                </a:solidFill>
                <a:latin typeface="Helvetica Neue"/>
                <a:ea typeface="Helvetica Neue"/>
                <a:cs typeface="Helvetica Neue"/>
                <a:sym typeface="Helvetica Neue"/>
              </a:rPr>
              <a:t>Castro-</a:t>
            </a:r>
            <a:r>
              <a:rPr lang="en" sz="1100" dirty="0" err="1">
                <a:solidFill>
                  <a:srgbClr val="000000"/>
                </a:solidFill>
                <a:latin typeface="Helvetica Neue"/>
                <a:ea typeface="Helvetica Neue"/>
                <a:cs typeface="Helvetica Neue"/>
                <a:sym typeface="Helvetica Neue"/>
              </a:rPr>
              <a:t>Schilo</a:t>
            </a:r>
            <a:r>
              <a:rPr lang="en" sz="1100" dirty="0">
                <a:solidFill>
                  <a:srgbClr val="000000"/>
                </a:solidFill>
                <a:latin typeface="Helvetica Neue"/>
                <a:ea typeface="Helvetica Neue"/>
                <a:cs typeface="Helvetica Neue"/>
                <a:sym typeface="Helvetica Neue"/>
              </a:rPr>
              <a:t>, L. (2021). </a:t>
            </a:r>
            <a:r>
              <a:rPr lang="en" sz="1100" i="1" dirty="0">
                <a:solidFill>
                  <a:srgbClr val="000000"/>
                </a:solidFill>
                <a:latin typeface="Helvetica Neue"/>
                <a:ea typeface="Helvetica Neue"/>
                <a:cs typeface="Helvetica Neue"/>
                <a:sym typeface="Helvetica Neue"/>
              </a:rPr>
              <a:t>Structural equation models</a:t>
            </a:r>
            <a:r>
              <a:rPr lang="en" sz="1100" dirty="0">
                <a:solidFill>
                  <a:srgbClr val="000000"/>
                </a:solidFill>
                <a:latin typeface="Helvetica Neue"/>
                <a:ea typeface="Helvetica Neue"/>
                <a:cs typeface="Helvetica Neue"/>
                <a:sym typeface="Helvetica Neue"/>
              </a:rPr>
              <a:t>. Towards Data Science. </a:t>
            </a:r>
            <a:r>
              <a:rPr lang="en" sz="1100" u="sng" dirty="0">
                <a:solidFill>
                  <a:srgbClr val="000000"/>
                </a:solidFill>
                <a:latin typeface="Helvetica Neue"/>
                <a:ea typeface="Helvetica Neue"/>
                <a:cs typeface="Helvetica Neue"/>
                <a:sym typeface="Helvetica Neue"/>
                <a:hlinkClick r:id="rId6">
                  <a:extLst>
                    <a:ext uri="{A12FA001-AC4F-418D-AE19-62706E023703}">
                      <ahyp:hlinkClr xmlns:ahyp="http://schemas.microsoft.com/office/drawing/2018/hyperlinkcolor" val="tx"/>
                    </a:ext>
                  </a:extLst>
                </a:hlinkClick>
              </a:rPr>
              <a:t>https://towardsdatascience.com/structural-equations-models-3d8578952f87/</a:t>
            </a:r>
            <a:r>
              <a:rPr lang="en" sz="1100" dirty="0">
                <a:solidFill>
                  <a:srgbClr val="000000"/>
                </a:solidFill>
                <a:latin typeface="Helvetica Neue"/>
                <a:ea typeface="Helvetica Neue"/>
                <a:cs typeface="Helvetica Neue"/>
                <a:sym typeface="Helvetica Neue"/>
              </a:rPr>
              <a:t> </a:t>
            </a:r>
            <a:endParaRPr sz="1100" dirty="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latin typeface="Helvetica Neue"/>
                <a:ea typeface="Helvetica Neue"/>
                <a:cs typeface="Helvetica Neue"/>
                <a:sym typeface="Helvetica Neue"/>
              </a:rPr>
              <a:t>del Rosario, K. (2024). </a:t>
            </a:r>
            <a:r>
              <a:rPr lang="en" sz="1100" i="1" dirty="0">
                <a:latin typeface="Helvetica Neue"/>
                <a:ea typeface="Helvetica Neue"/>
                <a:cs typeface="Helvetica Neue"/>
                <a:sym typeface="Helvetica Neue"/>
              </a:rPr>
              <a:t>Introduction to </a:t>
            </a:r>
            <a:r>
              <a:rPr lang="en" sz="1100" i="1" dirty="0" err="1">
                <a:latin typeface="Helvetica Neue"/>
                <a:ea typeface="Helvetica Neue"/>
                <a:cs typeface="Helvetica Neue"/>
                <a:sym typeface="Helvetica Neue"/>
              </a:rPr>
              <a:t>lavaan</a:t>
            </a:r>
            <a:r>
              <a:rPr lang="en" sz="1100" i="1" dirty="0">
                <a:latin typeface="Helvetica Neue"/>
                <a:ea typeface="Helvetica Neue"/>
                <a:cs typeface="Helvetica Neue"/>
                <a:sym typeface="Helvetica Neue"/>
              </a:rPr>
              <a:t>: Mediation and SEM</a:t>
            </a:r>
            <a:r>
              <a:rPr lang="en" sz="1100" dirty="0">
                <a:latin typeface="Helvetica Neue"/>
                <a:ea typeface="Helvetica Neue"/>
                <a:cs typeface="Helvetica Neue"/>
                <a:sym typeface="Helvetica Neue"/>
              </a:rPr>
              <a:t>. </a:t>
            </a:r>
            <a:r>
              <a:rPr lang="en" sz="1100" dirty="0" err="1">
                <a:latin typeface="Helvetica Neue"/>
                <a:ea typeface="Helvetica Neue"/>
                <a:cs typeface="Helvetica Neue"/>
                <a:sym typeface="Helvetica Neue"/>
              </a:rPr>
              <a:t>RPubs</a:t>
            </a:r>
            <a:r>
              <a:rPr lang="en" sz="1100" dirty="0">
                <a:latin typeface="Helvetica Neue"/>
                <a:ea typeface="Helvetica Neue"/>
                <a:cs typeface="Helvetica Neue"/>
                <a:sym typeface="Helvetica Neue"/>
              </a:rPr>
              <a:t>. </a:t>
            </a:r>
            <a:r>
              <a:rPr lang="en" sz="1100" u="sng" dirty="0">
                <a:latin typeface="Helvetica Neue"/>
                <a:ea typeface="Helvetica Neue"/>
                <a:cs typeface="Helvetica Neue"/>
                <a:sym typeface="Helvetica Neue"/>
                <a:hlinkClick r:id="rId7"/>
              </a:rPr>
              <a:t>https://rpubs.com/kareena_delrosario/lavaan_intro_medsem</a:t>
            </a:r>
            <a:r>
              <a:rPr lang="en" sz="1100" dirty="0">
                <a:latin typeface="Helvetica Neue"/>
                <a:ea typeface="Helvetica Neue"/>
                <a:cs typeface="Helvetica Neue"/>
                <a:sym typeface="Helvetica Neue"/>
              </a:rPr>
              <a:t> </a:t>
            </a:r>
            <a:endParaRPr sz="1100" dirty="0">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solidFill>
                  <a:srgbClr val="000000"/>
                </a:solidFill>
                <a:latin typeface="Helvetica Neue"/>
                <a:ea typeface="Helvetica Neue"/>
                <a:cs typeface="Helvetica Neue"/>
                <a:sym typeface="Helvetica Neue"/>
              </a:rPr>
              <a:t>Devlieger, I., &amp; Rosseel, Y. (2017). Factor score path analysis: An alternative for SEM? </a:t>
            </a:r>
            <a:r>
              <a:rPr lang="en" sz="1100" i="1" dirty="0">
                <a:solidFill>
                  <a:srgbClr val="000000"/>
                </a:solidFill>
                <a:latin typeface="Helvetica Neue"/>
                <a:ea typeface="Helvetica Neue"/>
                <a:cs typeface="Helvetica Neue"/>
                <a:sym typeface="Helvetica Neue"/>
              </a:rPr>
              <a:t>Methodology: European Journal of Research Methods for the Behavioral and Social Sciences, 13</a:t>
            </a:r>
            <a:r>
              <a:rPr lang="en" sz="1100" dirty="0">
                <a:solidFill>
                  <a:srgbClr val="000000"/>
                </a:solidFill>
                <a:latin typeface="Helvetica Neue"/>
                <a:ea typeface="Helvetica Neue"/>
                <a:cs typeface="Helvetica Neue"/>
                <a:sym typeface="Helvetica Neue"/>
              </a:rPr>
              <a:t>(Suppl 1), 31–38. </a:t>
            </a:r>
            <a:r>
              <a:rPr lang="en" sz="1100" u="sng" dirty="0">
                <a:solidFill>
                  <a:srgbClr val="000000"/>
                </a:solidFill>
                <a:latin typeface="Helvetica Neue"/>
                <a:ea typeface="Helvetica Neue"/>
                <a:cs typeface="Helvetica Neue"/>
                <a:sym typeface="Helvetica Neue"/>
                <a:hlinkClick r:id="rId8">
                  <a:extLst>
                    <a:ext uri="{A12FA001-AC4F-418D-AE19-62706E023703}">
                      <ahyp:hlinkClr xmlns:ahyp="http://schemas.microsoft.com/office/drawing/2018/hyperlinkcolor" val="tx"/>
                    </a:ext>
                  </a:extLst>
                </a:hlinkClick>
              </a:rPr>
              <a:t>https://doi.org/10.1027/1614-2241/a000130</a:t>
            </a:r>
            <a:r>
              <a:rPr lang="en" sz="1100" dirty="0">
                <a:solidFill>
                  <a:srgbClr val="000000"/>
                </a:solidFill>
                <a:latin typeface="Helvetica Neue"/>
                <a:ea typeface="Helvetica Neue"/>
                <a:cs typeface="Helvetica Neue"/>
                <a:sym typeface="Helvetica Neue"/>
              </a:rPr>
              <a:t> </a:t>
            </a:r>
            <a:endParaRPr sz="1100" dirty="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latin typeface="Helvetica Neue"/>
                <a:ea typeface="Helvetica Neue"/>
                <a:cs typeface="Helvetica Neue"/>
                <a:sym typeface="Helvetica Neue"/>
              </a:rPr>
              <a:t>Gana, K., &amp; Broc, G. (2019). </a:t>
            </a:r>
            <a:r>
              <a:rPr lang="en" sz="1100" i="1" dirty="0">
                <a:latin typeface="Helvetica Neue"/>
                <a:ea typeface="Helvetica Neue"/>
                <a:cs typeface="Helvetica Neue"/>
                <a:sym typeface="Helvetica Neue"/>
              </a:rPr>
              <a:t>Structural equation modeling with </a:t>
            </a:r>
            <a:r>
              <a:rPr lang="en" sz="1100" i="1" dirty="0" err="1">
                <a:latin typeface="Helvetica Neue"/>
                <a:ea typeface="Helvetica Neue"/>
                <a:cs typeface="Helvetica Neue"/>
                <a:sym typeface="Helvetica Neue"/>
              </a:rPr>
              <a:t>lavaan</a:t>
            </a:r>
            <a:r>
              <a:rPr lang="en" sz="1100" i="1" dirty="0">
                <a:latin typeface="Helvetica Neue"/>
                <a:ea typeface="Helvetica Neue"/>
                <a:cs typeface="Helvetica Neue"/>
                <a:sym typeface="Helvetica Neue"/>
              </a:rPr>
              <a:t>. </a:t>
            </a:r>
            <a:r>
              <a:rPr lang="en" sz="1100" dirty="0">
                <a:latin typeface="Helvetica Neue"/>
                <a:ea typeface="Helvetica Neue"/>
                <a:cs typeface="Helvetica Neue"/>
                <a:sym typeface="Helvetica Neue"/>
              </a:rPr>
              <a:t>Wiley. </a:t>
            </a:r>
            <a:r>
              <a:rPr lang="en" sz="1100" u="sng" dirty="0">
                <a:highlight>
                  <a:srgbClr val="FFFFFF"/>
                </a:highlight>
                <a:latin typeface="Helvetica Neue"/>
                <a:ea typeface="Helvetica Neue"/>
                <a:cs typeface="Helvetica Neue"/>
                <a:sym typeface="Helvetica Neue"/>
                <a:hlinkClick r:id="rId9"/>
              </a:rPr>
              <a:t>https://doi.org/10.1002/9781119579038</a:t>
            </a:r>
            <a:r>
              <a:rPr lang="en" sz="1100" dirty="0">
                <a:latin typeface="Helvetica Neue"/>
                <a:ea typeface="Helvetica Neue"/>
                <a:cs typeface="Helvetica Neue"/>
                <a:sym typeface="Helvetica Neue"/>
              </a:rPr>
              <a:t> </a:t>
            </a:r>
            <a:endParaRPr sz="1100" dirty="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solidFill>
                  <a:srgbClr val="000000"/>
                </a:solidFill>
                <a:latin typeface="Helvetica Neue"/>
                <a:ea typeface="Helvetica Neue"/>
                <a:cs typeface="Helvetica Neue"/>
                <a:sym typeface="Helvetica Neue"/>
              </a:rPr>
              <a:t>JMP. (n.d.). </a:t>
            </a:r>
            <a:r>
              <a:rPr lang="en" sz="1100" i="1" dirty="0">
                <a:solidFill>
                  <a:srgbClr val="000000"/>
                </a:solidFill>
                <a:latin typeface="Helvetica Neue"/>
                <a:ea typeface="Helvetica Neue"/>
                <a:cs typeface="Helvetica Neue"/>
                <a:sym typeface="Helvetica Neue"/>
              </a:rPr>
              <a:t>Structural equation modeling</a:t>
            </a:r>
            <a:r>
              <a:rPr lang="en" sz="1100" dirty="0">
                <a:solidFill>
                  <a:srgbClr val="000000"/>
                </a:solidFill>
                <a:latin typeface="Helvetica Neue"/>
                <a:ea typeface="Helvetica Neue"/>
                <a:cs typeface="Helvetica Neue"/>
                <a:sym typeface="Helvetica Neue"/>
              </a:rPr>
              <a:t>. </a:t>
            </a:r>
            <a:r>
              <a:rPr lang="en" sz="1100" u="sng" dirty="0">
                <a:solidFill>
                  <a:srgbClr val="000000"/>
                </a:solidFill>
                <a:latin typeface="Helvetica Neue"/>
                <a:ea typeface="Helvetica Neue"/>
                <a:cs typeface="Helvetica Neue"/>
                <a:sym typeface="Helvetica Neue"/>
                <a:hlinkClick r:id="rId10">
                  <a:extLst>
                    <a:ext uri="{A12FA001-AC4F-418D-AE19-62706E023703}">
                      <ahyp:hlinkClr xmlns:ahyp="http://schemas.microsoft.com/office/drawing/2018/hyperlinkcolor" val="tx"/>
                    </a:ext>
                  </a:extLst>
                </a:hlinkClick>
              </a:rPr>
              <a:t>https://www.jmp.com/en/statistics-knowledge-portal/structural-equation-modeling</a:t>
            </a:r>
            <a:r>
              <a:rPr lang="en" sz="1100" dirty="0">
                <a:solidFill>
                  <a:srgbClr val="000000"/>
                </a:solidFill>
                <a:latin typeface="Helvetica Neue"/>
                <a:ea typeface="Helvetica Neue"/>
                <a:cs typeface="Helvetica Neue"/>
                <a:sym typeface="Helvetica Neue"/>
              </a:rPr>
              <a:t> </a:t>
            </a:r>
            <a:endParaRPr sz="1100" dirty="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latin typeface="Helvetica Neue"/>
                <a:ea typeface="Helvetica Neue"/>
                <a:cs typeface="Helvetica Neue"/>
                <a:sym typeface="Helvetica Neue"/>
              </a:rPr>
              <a:t>Kaplan, D. (2001). Structural equation modeling. In N. J. Smelser &amp; P. B. Baltes (Eds.), </a:t>
            </a:r>
            <a:r>
              <a:rPr lang="en" sz="1100" i="1" dirty="0">
                <a:latin typeface="Helvetica Neue"/>
                <a:ea typeface="Helvetica Neue"/>
                <a:cs typeface="Helvetica Neue"/>
                <a:sym typeface="Helvetica Neue"/>
              </a:rPr>
              <a:t>International Encyclopedia of the Social &amp; Behavioral Sciences</a:t>
            </a:r>
            <a:r>
              <a:rPr lang="en" sz="1100" dirty="0">
                <a:latin typeface="Helvetica Neue"/>
                <a:ea typeface="Helvetica Neue"/>
                <a:cs typeface="Helvetica Neue"/>
                <a:sym typeface="Helvetica Neue"/>
              </a:rPr>
              <a:t>, 1521–15222. Pergamon. </a:t>
            </a:r>
            <a:r>
              <a:rPr lang="en" sz="1100" u="sng" dirty="0">
                <a:latin typeface="Helvetica Neue"/>
                <a:ea typeface="Helvetica Neue"/>
                <a:cs typeface="Helvetica Neue"/>
                <a:sym typeface="Helvetica Neue"/>
                <a:hlinkClick r:id="rId11"/>
              </a:rPr>
              <a:t>https://doi.org/10.1016/B0-08-043076-7/00776-2</a:t>
            </a:r>
            <a:r>
              <a:rPr lang="en" sz="1100" dirty="0">
                <a:latin typeface="Helvetica Neue"/>
                <a:ea typeface="Helvetica Neue"/>
                <a:cs typeface="Helvetica Neue"/>
                <a:sym typeface="Helvetica Neue"/>
              </a:rPr>
              <a:t> </a:t>
            </a:r>
            <a:endParaRPr sz="1100" dirty="0">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r>
              <a:rPr lang="en" sz="1100" dirty="0">
                <a:solidFill>
                  <a:srgbClr val="000000"/>
                </a:solidFill>
                <a:latin typeface="Helvetica Neue"/>
                <a:ea typeface="Helvetica Neue"/>
                <a:cs typeface="Helvetica Neue"/>
                <a:sym typeface="Helvetica Neue"/>
              </a:rPr>
              <a:t>Kline, R. B. (2023). </a:t>
            </a:r>
            <a:r>
              <a:rPr lang="en" sz="1100" i="1" dirty="0">
                <a:solidFill>
                  <a:srgbClr val="000000"/>
                </a:solidFill>
                <a:latin typeface="Helvetica Neue"/>
                <a:ea typeface="Helvetica Neue"/>
                <a:cs typeface="Helvetica Neue"/>
                <a:sym typeface="Helvetica Neue"/>
              </a:rPr>
              <a:t>Principles and practice of structural equation modeling</a:t>
            </a:r>
            <a:r>
              <a:rPr lang="en" sz="1100" dirty="0">
                <a:solidFill>
                  <a:srgbClr val="000000"/>
                </a:solidFill>
                <a:latin typeface="Helvetica Neue"/>
                <a:ea typeface="Helvetica Neue"/>
                <a:cs typeface="Helvetica Neue"/>
                <a:sym typeface="Helvetica Neue"/>
              </a:rPr>
              <a:t> (5th ed.). The Guilford Press. </a:t>
            </a:r>
            <a:endParaRPr sz="1100" dirty="0">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7"/>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b="1">
                <a:latin typeface="Helvetica Neue"/>
                <a:ea typeface="Helvetica Neue"/>
                <a:cs typeface="Helvetica Neue"/>
                <a:sym typeface="Helvetica Neue"/>
              </a:rPr>
              <a:t>References</a:t>
            </a:r>
            <a:endParaRPr b="1">
              <a:latin typeface="Helvetica Neue"/>
              <a:ea typeface="Helvetica Neue"/>
              <a:cs typeface="Helvetica Neue"/>
              <a:sym typeface="Helvetica Neue"/>
            </a:endParaRPr>
          </a:p>
        </p:txBody>
      </p:sp>
      <p:sp>
        <p:nvSpPr>
          <p:cNvPr id="358" name="Google Shape;358;p47"/>
          <p:cNvSpPr txBox="1">
            <a:spLocks noGrp="1"/>
          </p:cNvSpPr>
          <p:nvPr>
            <p:ph type="body" idx="1"/>
          </p:nvPr>
        </p:nvSpPr>
        <p:spPr>
          <a:xfrm>
            <a:off x="311700" y="1017725"/>
            <a:ext cx="8520600" cy="3945900"/>
          </a:xfrm>
          <a:prstGeom prst="rect">
            <a:avLst/>
          </a:prstGeom>
        </p:spPr>
        <p:txBody>
          <a:bodyPr spcFirstLastPara="1" wrap="square" lIns="68575" tIns="34275" rIns="68575" bIns="34275" anchor="t" anchorCtr="0">
            <a:noAutofit/>
          </a:bodyPr>
          <a:lstStyle/>
          <a:p>
            <a:pPr marL="457200" lvl="0" indent="-457200" algn="l" rtl="0">
              <a:lnSpc>
                <a:spcPct val="115000"/>
              </a:lnSpc>
              <a:spcBef>
                <a:spcPts val="0"/>
              </a:spcBef>
              <a:spcAft>
                <a:spcPts val="0"/>
              </a:spcAft>
              <a:buClr>
                <a:schemeClr val="dk1"/>
              </a:buClr>
              <a:buSzPts val="1100"/>
              <a:buFont typeface="Arial"/>
              <a:buNone/>
            </a:pPr>
            <a:r>
              <a:rPr lang="en" sz="1100">
                <a:latin typeface="Helvetica Neue"/>
                <a:ea typeface="Helvetica Neue"/>
                <a:cs typeface="Helvetica Neue"/>
                <a:sym typeface="Helvetica Neue"/>
              </a:rPr>
              <a:t>Kumar, S., &amp; Upadhaya, G. (2017). Structure equation modeling basic assumptions and concepts: A novices guide. </a:t>
            </a:r>
            <a:r>
              <a:rPr lang="en" sz="1100" i="1">
                <a:latin typeface="Helvetica Neue"/>
                <a:ea typeface="Helvetica Neue"/>
                <a:cs typeface="Helvetica Neue"/>
                <a:sym typeface="Helvetica Neue"/>
              </a:rPr>
              <a:t>International Journal of Quantitative and Qualitative Research Methods</a:t>
            </a:r>
            <a:r>
              <a:rPr lang="en" sz="1100">
                <a:latin typeface="Helvetica Neue"/>
                <a:ea typeface="Helvetica Neue"/>
                <a:cs typeface="Helvetica Neue"/>
                <a:sym typeface="Helvetica Neue"/>
              </a:rPr>
              <a:t>, </a:t>
            </a:r>
            <a:r>
              <a:rPr lang="en" sz="1100" i="1">
                <a:latin typeface="Helvetica Neue"/>
                <a:ea typeface="Helvetica Neue"/>
                <a:cs typeface="Helvetica Neue"/>
                <a:sym typeface="Helvetica Neue"/>
              </a:rPr>
              <a:t>5</a:t>
            </a:r>
            <a:r>
              <a:rPr lang="en" sz="1100">
                <a:latin typeface="Helvetica Neue"/>
                <a:ea typeface="Helvetica Neue"/>
                <a:cs typeface="Helvetica Neue"/>
                <a:sym typeface="Helvetica Neue"/>
              </a:rPr>
              <a:t>(4), 10–16. </a:t>
            </a:r>
            <a:r>
              <a:rPr lang="en" sz="1100" u="sng">
                <a:latin typeface="Helvetica Neue"/>
                <a:ea typeface="Helvetica Neue"/>
                <a:cs typeface="Helvetica Neue"/>
                <a:sym typeface="Helvetica Neue"/>
                <a:hlinkClick r:id="rId3"/>
              </a:rPr>
              <a:t>https://eajournals.org/ijqqrm/vol-5-issue-4-september-2017/structure-equation-modeling-basic-assumptions-concepts-novices-guide-2/</a:t>
            </a:r>
            <a:r>
              <a:rPr lang="en" sz="1100">
                <a:latin typeface="Helvetica Neue"/>
                <a:ea typeface="Helvetica Neue"/>
                <a:cs typeface="Helvetica Neue"/>
                <a:sym typeface="Helvetica Neue"/>
              </a:rPr>
              <a:t> </a:t>
            </a:r>
            <a:endParaRPr sz="1100">
              <a:highlight>
                <a:schemeClr val="lt1"/>
              </a:highlight>
              <a:latin typeface="Helvetica Neue"/>
              <a:ea typeface="Helvetica Neue"/>
              <a:cs typeface="Helvetica Neue"/>
              <a:sym typeface="Helvetica Neue"/>
            </a:endParaRPr>
          </a:p>
          <a:p>
            <a:pPr marL="457200" lvl="0" indent="-457200" algn="l" rtl="0">
              <a:lnSpc>
                <a:spcPct val="115000"/>
              </a:lnSpc>
              <a:spcBef>
                <a:spcPts val="0"/>
              </a:spcBef>
              <a:spcAft>
                <a:spcPts val="0"/>
              </a:spcAft>
              <a:buClr>
                <a:schemeClr val="dk1"/>
              </a:buClr>
              <a:buSzPts val="1100"/>
              <a:buFont typeface="Arial"/>
              <a:buNone/>
            </a:pPr>
            <a:r>
              <a:rPr lang="en" sz="1100">
                <a:highlight>
                  <a:schemeClr val="lt1"/>
                </a:highlight>
                <a:latin typeface="Helvetica Neue"/>
                <a:ea typeface="Helvetica Neue"/>
                <a:cs typeface="Helvetica Neue"/>
                <a:sym typeface="Helvetica Neue"/>
              </a:rPr>
              <a:t>Mehta, P. D., &amp; Neale, M. C. (2005). People are variables too: multilevel structural equations modeling. </a:t>
            </a:r>
            <a:r>
              <a:rPr lang="en" sz="1100" i="1">
                <a:highlight>
                  <a:schemeClr val="lt1"/>
                </a:highlight>
                <a:latin typeface="Helvetica Neue"/>
                <a:ea typeface="Helvetica Neue"/>
                <a:cs typeface="Helvetica Neue"/>
                <a:sym typeface="Helvetica Neue"/>
              </a:rPr>
              <a:t>Psychological methods</a:t>
            </a:r>
            <a:r>
              <a:rPr lang="en" sz="1100">
                <a:highlight>
                  <a:schemeClr val="lt1"/>
                </a:highlight>
                <a:latin typeface="Helvetica Neue"/>
                <a:ea typeface="Helvetica Neue"/>
                <a:cs typeface="Helvetica Neue"/>
                <a:sym typeface="Helvetica Neue"/>
              </a:rPr>
              <a:t>, </a:t>
            </a:r>
            <a:r>
              <a:rPr lang="en" sz="1100" i="1">
                <a:highlight>
                  <a:schemeClr val="lt1"/>
                </a:highlight>
                <a:latin typeface="Helvetica Neue"/>
                <a:ea typeface="Helvetica Neue"/>
                <a:cs typeface="Helvetica Neue"/>
                <a:sym typeface="Helvetica Neue"/>
              </a:rPr>
              <a:t>10</a:t>
            </a:r>
            <a:r>
              <a:rPr lang="en" sz="1100">
                <a:highlight>
                  <a:schemeClr val="lt1"/>
                </a:highlight>
                <a:latin typeface="Helvetica Neue"/>
                <a:ea typeface="Helvetica Neue"/>
                <a:cs typeface="Helvetica Neue"/>
                <a:sym typeface="Helvetica Neue"/>
              </a:rPr>
              <a:t>(3), 259–284. </a:t>
            </a:r>
            <a:r>
              <a:rPr lang="en" sz="1100" u="sng">
                <a:highlight>
                  <a:schemeClr val="lt1"/>
                </a:highlight>
                <a:latin typeface="Helvetica Neue"/>
                <a:ea typeface="Helvetica Neue"/>
                <a:cs typeface="Helvetica Neue"/>
                <a:sym typeface="Helvetica Neue"/>
                <a:hlinkClick r:id="rId4"/>
              </a:rPr>
              <a:t>https://doi.org/10.1037/1082-989X.10.3.259</a:t>
            </a:r>
            <a:r>
              <a:rPr lang="en" sz="1100">
                <a:highlight>
                  <a:schemeClr val="lt1"/>
                </a:highlight>
                <a:latin typeface="Helvetica Neue"/>
                <a:ea typeface="Helvetica Neue"/>
                <a:cs typeface="Helvetica Neue"/>
                <a:sym typeface="Helvetica Neue"/>
              </a:rPr>
              <a:t> </a:t>
            </a:r>
            <a:endParaRPr sz="1100">
              <a:latin typeface="Helvetica Neue"/>
              <a:ea typeface="Helvetica Neue"/>
              <a:cs typeface="Helvetica Neue"/>
              <a:sym typeface="Helvetica Neue"/>
            </a:endParaRPr>
          </a:p>
          <a:p>
            <a:pPr marL="457200" lvl="0" indent="-457200" algn="l" rtl="0">
              <a:lnSpc>
                <a:spcPct val="115000"/>
              </a:lnSpc>
              <a:spcBef>
                <a:spcPts val="0"/>
              </a:spcBef>
              <a:spcAft>
                <a:spcPts val="0"/>
              </a:spcAft>
              <a:buClr>
                <a:schemeClr val="dk1"/>
              </a:buClr>
              <a:buSzPts val="1100"/>
              <a:buFont typeface="Arial"/>
              <a:buNone/>
            </a:pPr>
            <a:r>
              <a:rPr lang="en" sz="1100">
                <a:latin typeface="Helvetica Neue"/>
                <a:ea typeface="Helvetica Neue"/>
                <a:cs typeface="Helvetica Neue"/>
                <a:sym typeface="Helvetica Neue"/>
              </a:rPr>
              <a:t>Rosseel, Y., &amp; Vidal, M. (2025). A tutorial for understanding SEM using R: Where do all the numbers come from? </a:t>
            </a:r>
            <a:r>
              <a:rPr lang="en" sz="1100" i="1">
                <a:latin typeface="Helvetica Neue"/>
                <a:ea typeface="Helvetica Neue"/>
                <a:cs typeface="Helvetica Neue"/>
                <a:sym typeface="Helvetica Neue"/>
              </a:rPr>
              <a:t>British Journal of Mathematical and Statistical Psychology</a:t>
            </a:r>
            <a:r>
              <a:rPr lang="en" sz="1100">
                <a:latin typeface="Helvetica Neue"/>
                <a:ea typeface="Helvetica Neue"/>
                <a:cs typeface="Helvetica Neue"/>
                <a:sym typeface="Helvetica Neue"/>
              </a:rPr>
              <a:t>, 00, 1–38. </a:t>
            </a:r>
            <a:r>
              <a:rPr lang="en" sz="1100" u="sng">
                <a:latin typeface="Helvetica Neue"/>
                <a:ea typeface="Helvetica Neue"/>
                <a:cs typeface="Helvetica Neue"/>
                <a:sym typeface="Helvetica Neue"/>
                <a:hlinkClick r:id="rId5"/>
              </a:rPr>
              <a:t>https://doi.org/10.1111/bmsp.70003</a:t>
            </a:r>
            <a:r>
              <a:rPr lang="en" sz="1100">
                <a:latin typeface="Helvetica Neue"/>
                <a:ea typeface="Helvetica Neue"/>
                <a:cs typeface="Helvetica Neue"/>
                <a:sym typeface="Helvetica Neue"/>
              </a:rPr>
              <a:t> </a:t>
            </a:r>
            <a:endParaRPr sz="1100">
              <a:latin typeface="Helvetica Neue"/>
              <a:ea typeface="Helvetica Neue"/>
              <a:cs typeface="Helvetica Neue"/>
              <a:sym typeface="Helvetica Neue"/>
            </a:endParaRPr>
          </a:p>
          <a:p>
            <a:pPr marL="457200" lvl="0" indent="-457200" algn="l" rtl="0">
              <a:lnSpc>
                <a:spcPct val="115000"/>
              </a:lnSpc>
              <a:spcBef>
                <a:spcPts val="0"/>
              </a:spcBef>
              <a:spcAft>
                <a:spcPts val="0"/>
              </a:spcAft>
              <a:buClr>
                <a:schemeClr val="dk1"/>
              </a:buClr>
              <a:buSzPts val="1100"/>
              <a:buFont typeface="Arial"/>
              <a:buNone/>
            </a:pPr>
            <a:r>
              <a:rPr lang="en" sz="1100">
                <a:latin typeface="Helvetica Neue"/>
                <a:ea typeface="Helvetica Neue"/>
                <a:cs typeface="Helvetica Neue"/>
                <a:sym typeface="Helvetica Neue"/>
              </a:rPr>
              <a:t>Spearman, C. (1904). “General intelligence,” objectively determined and measured. </a:t>
            </a:r>
            <a:r>
              <a:rPr lang="en" sz="1100" i="1">
                <a:latin typeface="Helvetica Neue"/>
                <a:ea typeface="Helvetica Neue"/>
                <a:cs typeface="Helvetica Neue"/>
                <a:sym typeface="Helvetica Neue"/>
              </a:rPr>
              <a:t>The American Journal of Psychology</a:t>
            </a:r>
            <a:r>
              <a:rPr lang="en" sz="1100">
                <a:latin typeface="Helvetica Neue"/>
                <a:ea typeface="Helvetica Neue"/>
                <a:cs typeface="Helvetica Neue"/>
                <a:sym typeface="Helvetica Neue"/>
              </a:rPr>
              <a:t>, </a:t>
            </a:r>
            <a:r>
              <a:rPr lang="en" sz="1100" i="1">
                <a:latin typeface="Helvetica Neue"/>
                <a:ea typeface="Helvetica Neue"/>
                <a:cs typeface="Helvetica Neue"/>
                <a:sym typeface="Helvetica Neue"/>
              </a:rPr>
              <a:t>15</a:t>
            </a:r>
            <a:r>
              <a:rPr lang="en" sz="1100">
                <a:latin typeface="Helvetica Neue"/>
                <a:ea typeface="Helvetica Neue"/>
                <a:cs typeface="Helvetica Neue"/>
                <a:sym typeface="Helvetica Neue"/>
              </a:rPr>
              <a:t>(2), 201–292. </a:t>
            </a:r>
            <a:r>
              <a:rPr lang="en" sz="1100" u="sng">
                <a:latin typeface="Helvetica Neue"/>
                <a:ea typeface="Helvetica Neue"/>
                <a:cs typeface="Helvetica Neue"/>
                <a:sym typeface="Helvetica Neue"/>
                <a:hlinkClick r:id="rId6"/>
              </a:rPr>
              <a:t>https://doi.org/10.2307/1412107</a:t>
            </a:r>
            <a:r>
              <a:rPr lang="en" sz="1100">
                <a:latin typeface="Helvetica Neue"/>
                <a:ea typeface="Helvetica Neue"/>
                <a:cs typeface="Helvetica Neue"/>
                <a:sym typeface="Helvetica Neue"/>
              </a:rPr>
              <a:t> </a:t>
            </a:r>
            <a:endParaRPr sz="110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Clr>
                <a:schemeClr val="dk1"/>
              </a:buClr>
              <a:buSzPts val="1100"/>
              <a:buFont typeface="Arial"/>
              <a:buNone/>
            </a:pPr>
            <a:r>
              <a:rPr lang="en" sz="1100">
                <a:solidFill>
                  <a:srgbClr val="000000"/>
                </a:solidFill>
                <a:latin typeface="Helvetica Neue"/>
                <a:ea typeface="Helvetica Neue"/>
                <a:cs typeface="Helvetica Neue"/>
                <a:sym typeface="Helvetica Neue"/>
              </a:rPr>
              <a:t>Tomarken, A. J., &amp; Waller, N. G. (2005). Structural equation modeling: strengths, limitations, and misconceptions. </a:t>
            </a:r>
            <a:r>
              <a:rPr lang="en" sz="1100" i="1">
                <a:solidFill>
                  <a:srgbClr val="000000"/>
                </a:solidFill>
                <a:latin typeface="Helvetica Neue"/>
                <a:ea typeface="Helvetica Neue"/>
                <a:cs typeface="Helvetica Neue"/>
                <a:sym typeface="Helvetica Neue"/>
              </a:rPr>
              <a:t>Annual Review of Clinical Psychology</a:t>
            </a:r>
            <a:r>
              <a:rPr lang="en" sz="1100">
                <a:solidFill>
                  <a:srgbClr val="000000"/>
                </a:solidFill>
                <a:latin typeface="Helvetica Neue"/>
                <a:ea typeface="Helvetica Neue"/>
                <a:cs typeface="Helvetica Neue"/>
                <a:sym typeface="Helvetica Neue"/>
              </a:rPr>
              <a:t>, </a:t>
            </a:r>
            <a:r>
              <a:rPr lang="en" sz="1100" i="1">
                <a:solidFill>
                  <a:srgbClr val="000000"/>
                </a:solidFill>
                <a:latin typeface="Helvetica Neue"/>
                <a:ea typeface="Helvetica Neue"/>
                <a:cs typeface="Helvetica Neue"/>
                <a:sym typeface="Helvetica Neue"/>
              </a:rPr>
              <a:t>1</a:t>
            </a:r>
            <a:r>
              <a:rPr lang="en" sz="1100">
                <a:solidFill>
                  <a:srgbClr val="000000"/>
                </a:solidFill>
                <a:latin typeface="Helvetica Neue"/>
                <a:ea typeface="Helvetica Neue"/>
                <a:cs typeface="Helvetica Neue"/>
                <a:sym typeface="Helvetica Neue"/>
              </a:rPr>
              <a:t>, 31–65. </a:t>
            </a:r>
            <a:r>
              <a:rPr lang="en" sz="1100" u="sng">
                <a:solidFill>
                  <a:srgbClr val="000000"/>
                </a:solidFill>
                <a:latin typeface="Helvetica Neue"/>
                <a:ea typeface="Helvetica Neue"/>
                <a:cs typeface="Helvetica Neue"/>
                <a:sym typeface="Helvetica Neue"/>
                <a:hlinkClick r:id="rId7">
                  <a:extLst>
                    <a:ext uri="{A12FA001-AC4F-418D-AE19-62706E023703}">
                      <ahyp:hlinkClr xmlns:ahyp="http://schemas.microsoft.com/office/drawing/2018/hyperlinkcolor" val="tx"/>
                    </a:ext>
                  </a:extLst>
                </a:hlinkClick>
              </a:rPr>
              <a:t>https://doi.org/10.1146/annurev.clinpsy.1.102803.144239</a:t>
            </a:r>
            <a:r>
              <a:rPr lang="en" sz="1100">
                <a:solidFill>
                  <a:srgbClr val="000000"/>
                </a:solidFill>
                <a:latin typeface="Helvetica Neue"/>
                <a:ea typeface="Helvetica Neue"/>
                <a:cs typeface="Helvetica Neue"/>
                <a:sym typeface="Helvetica Neue"/>
              </a:rPr>
              <a:t> </a:t>
            </a:r>
            <a:endParaRPr sz="110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Clr>
                <a:schemeClr val="dk1"/>
              </a:buClr>
              <a:buSzPts val="1100"/>
              <a:buFont typeface="Arial"/>
              <a:buNone/>
            </a:pPr>
            <a:r>
              <a:rPr lang="en" sz="1100">
                <a:solidFill>
                  <a:srgbClr val="000000"/>
                </a:solidFill>
                <a:latin typeface="Helvetica Neue"/>
                <a:ea typeface="Helvetica Neue"/>
                <a:cs typeface="Helvetica Neue"/>
                <a:sym typeface="Helvetica Neue"/>
              </a:rPr>
              <a:t>Tsukahara, J. (2023). </a:t>
            </a:r>
            <a:r>
              <a:rPr lang="en" sz="1100" i="1">
                <a:solidFill>
                  <a:srgbClr val="000000"/>
                </a:solidFill>
                <a:latin typeface="Helvetica Neue"/>
                <a:ea typeface="Helvetica Neue"/>
                <a:cs typeface="Helvetica Neue"/>
                <a:sym typeface="Helvetica Neue"/>
              </a:rPr>
              <a:t>semoutput: SEM output</a:t>
            </a:r>
            <a:r>
              <a:rPr lang="en" sz="1100">
                <a:solidFill>
                  <a:srgbClr val="000000"/>
                </a:solidFill>
                <a:latin typeface="Helvetica Neue"/>
                <a:ea typeface="Helvetica Neue"/>
                <a:cs typeface="Helvetica Neue"/>
                <a:sym typeface="Helvetica Neue"/>
              </a:rPr>
              <a:t>. </a:t>
            </a:r>
            <a:r>
              <a:rPr lang="en" sz="1100" u="sng">
                <a:solidFill>
                  <a:srgbClr val="000000"/>
                </a:solidFill>
                <a:latin typeface="Helvetica Neue"/>
                <a:ea typeface="Helvetica Neue"/>
                <a:cs typeface="Helvetica Neue"/>
                <a:sym typeface="Helvetica Neue"/>
                <a:hlinkClick r:id="rId8">
                  <a:extLst>
                    <a:ext uri="{A12FA001-AC4F-418D-AE19-62706E023703}">
                      <ahyp:hlinkClr xmlns:ahyp="http://schemas.microsoft.com/office/drawing/2018/hyperlinkcolor" val="tx"/>
                    </a:ext>
                  </a:extLst>
                </a:hlinkClick>
              </a:rPr>
              <a:t>https://github.com/dr-JT/semoutput</a:t>
            </a:r>
            <a:r>
              <a:rPr lang="en" sz="1100">
                <a:solidFill>
                  <a:srgbClr val="000000"/>
                </a:solidFill>
                <a:latin typeface="Helvetica Neue"/>
                <a:ea typeface="Helvetica Neue"/>
                <a:cs typeface="Helvetica Neue"/>
                <a:sym typeface="Helvetica Neue"/>
              </a:rPr>
              <a:t> </a:t>
            </a:r>
            <a:endParaRPr sz="1100">
              <a:solidFill>
                <a:srgbClr val="000000"/>
              </a:solidFill>
              <a:latin typeface="Helvetica Neue"/>
              <a:ea typeface="Helvetica Neue"/>
              <a:cs typeface="Helvetica Neue"/>
              <a:sym typeface="Helvetica Neue"/>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457200" lvl="0" indent="-457200" algn="l" rtl="0">
              <a:lnSpc>
                <a:spcPct val="115000"/>
              </a:lnSpc>
              <a:spcBef>
                <a:spcPts val="0"/>
              </a:spcBef>
              <a:spcAft>
                <a:spcPts val="0"/>
              </a:spcAft>
              <a:buClr>
                <a:schemeClr val="dk1"/>
              </a:buClr>
              <a:buSzPts val="1100"/>
              <a:buFont typeface="Arial"/>
              <a:buNone/>
            </a:pPr>
            <a:endParaRPr sz="1100">
              <a:solidFill>
                <a:srgbClr val="000000"/>
              </a:solidFill>
              <a:latin typeface="Helvetica Neue"/>
              <a:ea typeface="Helvetica Neue"/>
              <a:cs typeface="Helvetica Neue"/>
              <a:sym typeface="Helvetica Neue"/>
            </a:endParaRPr>
          </a:p>
          <a:p>
            <a:pPr marL="457200" lvl="0" indent="-457200" algn="l" rtl="0">
              <a:lnSpc>
                <a:spcPct val="115000"/>
              </a:lnSpc>
              <a:spcBef>
                <a:spcPts val="0"/>
              </a:spcBef>
              <a:spcAft>
                <a:spcPts val="0"/>
              </a:spcAft>
              <a:buNone/>
            </a:pPr>
            <a:endParaRPr sz="1100">
              <a:solidFill>
                <a:srgbClr val="000000"/>
              </a:solidFill>
              <a:latin typeface="Helvetica Neue"/>
              <a:ea typeface="Helvetica Neue"/>
              <a:cs typeface="Helvetica Neue"/>
              <a:sym typeface="Helvetica Neue"/>
            </a:endParaRPr>
          </a:p>
          <a:p>
            <a:pPr marL="0" lvl="0" indent="0" algn="l" rtl="0">
              <a:lnSpc>
                <a:spcPct val="115000"/>
              </a:lnSpc>
              <a:spcBef>
                <a:spcPts val="800"/>
              </a:spcBef>
              <a:spcAft>
                <a:spcPts val="0"/>
              </a:spcAft>
              <a:buNone/>
            </a:pPr>
            <a:endParaRPr sz="1100">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5267</Words>
  <Application>Microsoft Macintosh PowerPoint</Application>
  <PresentationFormat>On-screen Show (16:9)</PresentationFormat>
  <Paragraphs>218</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Helvetica Neue</vt:lpstr>
      <vt:lpstr>Arial</vt:lpstr>
      <vt:lpstr>Century Gothic</vt:lpstr>
      <vt:lpstr>Times New Roman</vt:lpstr>
      <vt:lpstr>Vapor Trail</vt:lpstr>
      <vt:lpstr>Structural Equation Modeling (SEM)</vt:lpstr>
      <vt:lpstr>Introduction</vt:lpstr>
      <vt:lpstr>What is SEM?</vt:lpstr>
      <vt:lpstr>SEM: The Origin Story</vt:lpstr>
      <vt:lpstr>Example Research Question</vt:lpstr>
      <vt:lpstr>Example Research Question</vt:lpstr>
      <vt:lpstr>Theory</vt:lpstr>
      <vt:lpstr>Components of SEM</vt:lpstr>
      <vt:lpstr>Graphing SEM</vt:lpstr>
      <vt:lpstr>SEM Assumptions</vt:lpstr>
      <vt:lpstr>Strengths &amp; Weaknesses</vt:lpstr>
      <vt:lpstr>When Will I Ever Use This?</vt:lpstr>
      <vt:lpstr>R Demonstration</vt:lpstr>
      <vt:lpstr>Interpretation</vt:lpstr>
      <vt:lpstr>Interpretation: Model Fit</vt:lpstr>
      <vt:lpstr>Interpretation: Model Fit</vt:lpstr>
      <vt:lpstr>Model Visualization</vt:lpstr>
      <vt:lpstr>Model Visualization</vt:lpstr>
      <vt:lpstr>Interpretation: Factor Loadings</vt:lpstr>
      <vt:lpstr>Interpretation: Regressions</vt:lpstr>
      <vt:lpstr>Model Visualization</vt:lpstr>
      <vt:lpstr>Reporting SEM Results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Brook, Kathryn</cp:lastModifiedBy>
  <cp:revision>3</cp:revision>
  <dcterms:modified xsi:type="dcterms:W3CDTF">2026-09-26T22:46:21Z</dcterms:modified>
</cp:coreProperties>
</file>